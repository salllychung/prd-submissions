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Product A</c:v>
                </c:pt>
              </c:strCache>
            </c:strRef>
          </c:tx>
          <c:spPr>
            <a:solidFill>
              <a:srgbClr val="0066CC"/>
            </a:solidFill>
          </c:spPr>
          <c:cat>
            <c:strRef>
              <c:f>Sheet1!$A$2:$A$5</c:f>
              <c:strCache>
                <c:ptCount val="4"/>
                <c:pt idx="0">
                  <c:v>Q1 2024</c:v>
                </c:pt>
                <c:pt idx="1">
                  <c:v>Q2 2024</c:v>
                </c:pt>
                <c:pt idx="2">
                  <c:v>Q3 2024</c:v>
                </c:pt>
                <c:pt idx="3">
                  <c:v>Q4 2024</c:v>
                </c:pt>
              </c:strCache>
            </c:strRef>
          </c:cat>
          <c:val>
            <c:numRef>
              <c:f>Sheet1!$B$2:$B$5</c:f>
              <c:numCache>
                <c:formatCode>General</c:formatCode>
                <c:ptCount val="4"/>
                <c:pt idx="0">
                  <c:v>42</c:v>
                </c:pt>
                <c:pt idx="1">
                  <c:v>67</c:v>
                </c:pt>
                <c:pt idx="2">
                  <c:v>58</c:v>
                </c:pt>
                <c:pt idx="3">
                  <c:v>83</c:v>
                </c:pt>
              </c:numCache>
            </c:numRef>
          </c:val>
        </c:ser>
        <c:ser>
          <c:idx val="1"/>
          <c:order val="1"/>
          <c:tx>
            <c:strRef>
              <c:f>Sheet1!$C$1</c:f>
              <c:strCache>
                <c:ptCount val="1"/>
                <c:pt idx="0">
                  <c:v>Product B</c:v>
                </c:pt>
              </c:strCache>
            </c:strRef>
          </c:tx>
          <c:spPr>
            <a:solidFill>
              <a:srgbClr val="2997FF"/>
            </a:solidFill>
          </c:spPr>
          <c:cat>
            <c:strRef>
              <c:f>Sheet1!$A$2:$A$5</c:f>
              <c:strCache>
                <c:ptCount val="4"/>
                <c:pt idx="0">
                  <c:v>Q1 2024</c:v>
                </c:pt>
                <c:pt idx="1">
                  <c:v>Q2 2024</c:v>
                </c:pt>
                <c:pt idx="2">
                  <c:v>Q3 2024</c:v>
                </c:pt>
                <c:pt idx="3">
                  <c:v>Q4 2024</c:v>
                </c:pt>
              </c:strCache>
            </c:strRef>
          </c:cat>
          <c:val>
            <c:numRef>
              <c:f>Sheet1!$C$2:$C$5</c:f>
              <c:numCache>
                <c:formatCode>General</c:formatCode>
                <c:ptCount val="4"/>
                <c:pt idx="0">
                  <c:v>28</c:v>
                </c:pt>
                <c:pt idx="1">
                  <c:v>45</c:v>
                </c:pt>
                <c:pt idx="2">
                  <c:v>71</c:v>
                </c:pt>
                <c:pt idx="3">
                  <c:v>62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spPr>
            <a:ln w="31750">
              <a:solidFill>
                <a:srgbClr val="0066CC"/>
              </a:solidFill>
            </a:ln>
          </c:spPr>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100</c:v>
                </c:pt>
                <c:pt idx="1">
                  <c:v>118</c:v>
                </c:pt>
                <c:pt idx="2">
                  <c:v>132</c:v>
                </c:pt>
                <c:pt idx="3">
                  <c:v>145</c:v>
                </c:pt>
                <c:pt idx="4">
                  <c:v>162</c:v>
                </c:pt>
                <c:pt idx="5">
                  <c:v>189</c:v>
                </c:pt>
              </c:numCache>
            </c:numRef>
          </c:val>
          <c:smooth val="0"/>
        </c:ser>
        <c:ser>
          <c:idx val="1"/>
          <c:order val="1"/>
          <c:tx>
            <c:strRef>
              <c:f>Sheet1!$C$1</c:f>
              <c:strCache>
                <c:ptCount val="1"/>
                <c:pt idx="0">
                  <c:v>Users</c:v>
                </c:pt>
              </c:strCache>
            </c:strRef>
          </c:tx>
          <c:spPr>
            <a:ln w="31750">
              <a:solidFill>
                <a:srgbClr val="0071E3"/>
              </a:solidFill>
            </a:ln>
          </c:spPr>
          <c:marker>
            <c:symbol val="none"/>
          </c:marke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80</c:v>
                </c:pt>
                <c:pt idx="1">
                  <c:v>95</c:v>
                </c:pt>
                <c:pt idx="2">
                  <c:v>110</c:v>
                </c:pt>
                <c:pt idx="3">
                  <c:v>128</c:v>
                </c:pt>
                <c:pt idx="4">
                  <c:v>150</c:v>
                </c:pt>
                <c:pt idx="5">
                  <c:v>175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Revenue Share</c:v>
                </c:pt>
              </c:strCache>
            </c:strRef>
          </c:tx>
          <c:dPt>
            <c:idx val="0"/>
            <c:spPr>
              <a:solidFill>
                <a:srgbClr val="0066CC"/>
              </a:solidFill>
            </c:spPr>
          </c:dPt>
          <c:dPt>
            <c:idx val="1"/>
            <c:spPr>
              <a:solidFill>
                <a:srgbClr val="2997FF"/>
              </a:solidFill>
            </c:spPr>
          </c:dPt>
          <c:dPt>
            <c:idx val="2"/>
            <c:spPr>
              <a:solidFill>
                <a:srgbClr val="0071E3"/>
              </a:solidFill>
            </c:spPr>
          </c:dPt>
          <c:dPt>
            <c:idx val="3"/>
            <c:spPr>
              <a:solidFill>
                <a:srgbClr val="CCCCCC"/>
              </a:solidFill>
            </c:spPr>
          </c:dPt>
          <c:dPt>
            <c:idx val="4"/>
            <c:spPr>
              <a:solidFill>
                <a:srgbClr val="F5F5F7"/>
              </a:solidFill>
            </c:spPr>
          </c:dPt>
          <c:cat>
            <c:strRef>
              <c:f>Sheet1!$A$2:$A$6</c:f>
              <c:strCache>
                <c:ptCount val="5"/>
                <c:pt idx="0">
                  <c:v>iPhone</c:v>
                </c:pt>
                <c:pt idx="1">
                  <c:v>Mac</c:v>
                </c:pt>
                <c:pt idx="2">
                  <c:v>iPad</c:v>
                </c:pt>
                <c:pt idx="3">
                  <c:v>Wearables</c:v>
                </c:pt>
                <c:pt idx="4">
                  <c:v>Services</c:v>
                </c:pt>
              </c:strCache>
            </c:strRef>
          </c:cat>
          <c:val>
            <c:numRef>
              <c:f>Sheet1!$B$2:$B$6</c:f>
              <c:numCache>
                <c:formatCode>General</c:formatCode>
                <c:ptCount val="5"/>
                <c:pt idx="0">
                  <c:v>38</c:v>
                </c:pt>
                <c:pt idx="1">
                  <c:v>14</c:v>
                </c:pt>
                <c:pt idx="2">
                  <c:v>9</c:v>
                </c:pt>
                <c:pt idx="3">
                  <c:v>11</c:v>
                </c:pt>
                <c:pt idx="4">
                  <c:v>28</c:v>
                </c:pt>
              </c:numCache>
            </c:numRef>
          </c:val>
        </c:ser>
      </c:pieChart>
    </c:plotArea>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2011680"/>
            <a:ext cx="10360152" cy="1097280"/>
          </a:xfrm>
          <a:prstGeom prst="rect">
            <a:avLst/>
          </a:prstGeom>
          <a:noFill/>
        </p:spPr>
        <p:txBody>
          <a:bodyPr wrap="square">
            <a:spAutoFit/>
          </a:bodyPr>
          <a:lstStyle/>
          <a:p>
            <a:pPr algn="ctr"/>
            <a:r>
              <a:rPr sz="4000" b="1">
                <a:solidFill>
                  <a:srgbClr val="1D1D1F"/>
                </a:solidFill>
                <a:latin typeface="Calibri"/>
              </a:rPr>
              <a:t>Apple Design System</a:t>
            </a:r>
          </a:p>
        </p:txBody>
      </p:sp>
      <p:sp>
        <p:nvSpPr>
          <p:cNvPr id="3" name="TextBox 2"/>
          <p:cNvSpPr txBox="1"/>
          <p:nvPr/>
        </p:nvSpPr>
        <p:spPr>
          <a:xfrm>
            <a:off x="1371600" y="3200400"/>
            <a:ext cx="9445752" cy="731520"/>
          </a:xfrm>
          <a:prstGeom prst="rect">
            <a:avLst/>
          </a:prstGeom>
          <a:noFill/>
        </p:spPr>
        <p:txBody>
          <a:bodyPr wrap="square">
            <a:spAutoFit/>
          </a:bodyPr>
          <a:lstStyle/>
          <a:p>
            <a:pPr algn="ctr"/>
            <a:r>
              <a:rPr sz="2000" b="0">
                <a:solidFill>
                  <a:srgbClr val="1D1D1F"/>
                </a:solidFill>
                <a:latin typeface="Calibri"/>
              </a:rPr>
              <a:t>A comprehensive presentation template built on Apple's visual language</a:t>
            </a:r>
          </a:p>
        </p:txBody>
      </p:sp>
      <p:sp>
        <p:nvSpPr>
          <p:cNvPr id="4" name="Rounded Rectangle 3"/>
          <p:cNvSpPr/>
          <p:nvPr/>
        </p:nvSpPr>
        <p:spPr>
          <a:xfrm>
            <a:off x="4265676" y="5097780"/>
            <a:ext cx="1645920" cy="411480"/>
          </a:xfrm>
          <a:prstGeom prst="roundRect">
            <a:avLst>
              <a:gd name="adj" fmla="val 5000000000"/>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0">
                <a:solidFill>
                  <a:srgbClr val="FFFFFF"/>
                </a:solidFill>
                <a:latin typeface="Calibri"/>
              </a:rPr>
              <a:t>Learn More</a:t>
            </a:r>
          </a:p>
        </p:txBody>
      </p:sp>
      <p:sp>
        <p:nvSpPr>
          <p:cNvPr id="5" name="Rounded Rectangle 4"/>
          <p:cNvSpPr/>
          <p:nvPr/>
        </p:nvSpPr>
        <p:spPr>
          <a:xfrm>
            <a:off x="6277356" y="5097780"/>
            <a:ext cx="1645920" cy="411480"/>
          </a:xfrm>
          <a:prstGeom prst="roundRect">
            <a:avLst>
              <a:gd name="adj" fmla="val 5000000000"/>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0">
                <a:solidFill>
                  <a:srgbClr val="FFFFFF"/>
                </a:solidFill>
                <a:latin typeface="Calibri"/>
              </a:rPr>
              <a:t>Get Started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729"/>
        </a:solidFill>
        <a:effectLst/>
      </p:bgPr>
    </p:bg>
    <p:spTree>
      <p:nvGrpSpPr>
        <p:cNvPr id="1" name=""/>
        <p:cNvGrpSpPr/>
        <p:nvPr/>
      </p:nvGrpSpPr>
      <p:grpSpPr/>
      <p:sp>
        <p:nvSpPr>
          <p:cNvPr id="2" name="TextBox 1"/>
          <p:cNvSpPr txBox="1"/>
          <p:nvPr/>
        </p:nvSpPr>
        <p:spPr>
          <a:xfrm>
            <a:off x="914400" y="2011680"/>
            <a:ext cx="10360152" cy="1097280"/>
          </a:xfrm>
          <a:prstGeom prst="rect">
            <a:avLst/>
          </a:prstGeom>
          <a:noFill/>
        </p:spPr>
        <p:txBody>
          <a:bodyPr wrap="square">
            <a:spAutoFit/>
          </a:bodyPr>
          <a:lstStyle/>
          <a:p>
            <a:pPr algn="ctr"/>
            <a:r>
              <a:rPr sz="4000" b="1">
                <a:solidFill>
                  <a:srgbClr val="FFFFFF"/>
                </a:solidFill>
                <a:latin typeface="Calibri"/>
              </a:rPr>
              <a:t>Apple Design System</a:t>
            </a:r>
          </a:p>
        </p:txBody>
      </p:sp>
      <p:sp>
        <p:nvSpPr>
          <p:cNvPr id="3" name="TextBox 2"/>
          <p:cNvSpPr txBox="1"/>
          <p:nvPr/>
        </p:nvSpPr>
        <p:spPr>
          <a:xfrm>
            <a:off x="1371600" y="3200400"/>
            <a:ext cx="9445752" cy="731520"/>
          </a:xfrm>
          <a:prstGeom prst="rect">
            <a:avLst/>
          </a:prstGeom>
          <a:noFill/>
        </p:spPr>
        <p:txBody>
          <a:bodyPr wrap="square">
            <a:spAutoFit/>
          </a:bodyPr>
          <a:lstStyle/>
          <a:p>
            <a:pPr algn="ctr"/>
            <a:r>
              <a:rPr sz="2000" b="0">
                <a:solidFill>
                  <a:srgbClr val="CCCCCC"/>
                </a:solidFill>
                <a:latin typeface="Calibri"/>
              </a:rPr>
              <a:t>A comprehensive presentation template built on Apple's visual language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729"/>
        </a:solidFill>
        <a:effectLst/>
      </p:bgPr>
    </p:bg>
    <p:spTree>
      <p:nvGrpSpPr>
        <p:cNvPr id="1" name=""/>
        <p:cNvGrpSpPr/>
        <p:nvPr/>
      </p:nvGrpSpPr>
      <p:grpSpPr/>
      <p:sp>
        <p:nvSpPr>
          <p:cNvPr id="2" name="TextBox 1"/>
          <p:cNvSpPr txBox="1"/>
          <p:nvPr/>
        </p:nvSpPr>
        <p:spPr>
          <a:xfrm>
            <a:off x="914400" y="1371600"/>
            <a:ext cx="3657600" cy="1097280"/>
          </a:xfrm>
          <a:prstGeom prst="rect">
            <a:avLst/>
          </a:prstGeom>
          <a:noFill/>
        </p:spPr>
        <p:txBody>
          <a:bodyPr wrap="square">
            <a:spAutoFit/>
          </a:bodyPr>
          <a:lstStyle/>
          <a:p>
            <a:pPr algn="l"/>
            <a:r>
              <a:rPr sz="5600" b="1">
                <a:solidFill>
                  <a:srgbClr val="0066CC"/>
                </a:solidFill>
                <a:latin typeface="Calibri"/>
              </a:rPr>
              <a:t>01</a:t>
            </a:r>
          </a:p>
        </p:txBody>
      </p:sp>
      <p:sp>
        <p:nvSpPr>
          <p:cNvPr id="3" name="TextBox 2"/>
          <p:cNvSpPr txBox="1"/>
          <p:nvPr/>
        </p:nvSpPr>
        <p:spPr>
          <a:xfrm>
            <a:off x="914400" y="2651760"/>
            <a:ext cx="7315200" cy="914400"/>
          </a:xfrm>
          <a:prstGeom prst="rect">
            <a:avLst/>
          </a:prstGeom>
          <a:noFill/>
        </p:spPr>
        <p:txBody>
          <a:bodyPr wrap="square">
            <a:spAutoFit/>
          </a:bodyPr>
          <a:lstStyle/>
          <a:p>
            <a:pPr algn="l"/>
            <a:r>
              <a:rPr sz="2800" b="1">
                <a:solidFill>
                  <a:srgbClr val="FFFFFF"/>
                </a:solidFill>
                <a:latin typeface="Calibri"/>
              </a:rPr>
              <a:t>Introduction to Design</a:t>
            </a:r>
          </a:p>
        </p:txBody>
      </p:sp>
      <p:sp>
        <p:nvSpPr>
          <p:cNvPr id="4" name="TextBox 3"/>
          <p:cNvSpPr txBox="1"/>
          <p:nvPr/>
        </p:nvSpPr>
        <p:spPr>
          <a:xfrm>
            <a:off x="914400" y="3749039"/>
            <a:ext cx="7315200" cy="640080"/>
          </a:xfrm>
          <a:prstGeom prst="rect">
            <a:avLst/>
          </a:prstGeom>
          <a:noFill/>
        </p:spPr>
        <p:txBody>
          <a:bodyPr wrap="square">
            <a:spAutoFit/>
          </a:bodyPr>
          <a:lstStyle/>
          <a:p>
            <a:pPr algn="l"/>
            <a:r>
              <a:rPr sz="1500" b="0">
                <a:solidFill>
                  <a:srgbClr val="CCCCCC"/>
                </a:solidFill>
                <a:latin typeface="Calibri"/>
              </a:rPr>
              <a:t>Explore the principles that define our visual language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7"/>
        </a:solidFill>
        <a:effectLst/>
      </p:bgPr>
    </p:bg>
    <p:spTree>
      <p:nvGrpSpPr>
        <p:cNvPr id="1" name=""/>
        <p:cNvGrpSpPr/>
        <p:nvPr/>
      </p:nvGrpSpPr>
      <p:grpSpPr/>
      <p:sp>
        <p:nvSpPr>
          <p:cNvPr id="2" name="TextBox 1"/>
          <p:cNvSpPr txBox="1"/>
          <p:nvPr/>
        </p:nvSpPr>
        <p:spPr>
          <a:xfrm>
            <a:off x="548640" y="914400"/>
            <a:ext cx="6766560" cy="640080"/>
          </a:xfrm>
          <a:prstGeom prst="rect">
            <a:avLst/>
          </a:prstGeom>
          <a:noFill/>
        </p:spPr>
        <p:txBody>
          <a:bodyPr wrap="square">
            <a:spAutoFit/>
          </a:bodyPr>
          <a:lstStyle/>
          <a:p>
            <a:pPr algn="l"/>
            <a:r>
              <a:rPr sz="2400" b="1">
                <a:solidFill>
                  <a:srgbClr val="1D1D1F"/>
                </a:solidFill>
                <a:latin typeface="Calibri"/>
              </a:rPr>
              <a:t>Design Principles</a:t>
            </a:r>
          </a:p>
        </p:txBody>
      </p:sp>
      <p:sp>
        <p:nvSpPr>
          <p:cNvPr id="3" name="TextBox 2"/>
          <p:cNvSpPr txBox="1"/>
          <p:nvPr/>
        </p:nvSpPr>
        <p:spPr>
          <a:xfrm>
            <a:off x="548640" y="1737360"/>
            <a:ext cx="6766560" cy="3474720"/>
          </a:xfrm>
          <a:prstGeom prst="rect">
            <a:avLst/>
          </a:prstGeom>
          <a:noFill/>
        </p:spPr>
        <p:txBody>
          <a:bodyPr wrap="square">
            <a:spAutoFit/>
          </a:bodyPr>
          <a:lstStyle/>
          <a:p>
            <a:pPr algn="l"/>
            <a:r>
              <a:rPr sz="1200" b="0">
                <a:solidFill>
                  <a:srgbClr val="1D1D1F"/>
                </a:solidFill>
                <a:latin typeface="Calibri"/>
              </a:rPr>
              <a:t>Apple's design language is rooted in clarity, deference, and depth. Every element is intentional, every interaction considered.
Our visual system provides consistency across all touchpoints, ensuring that users always feel at home within our ecosystem.</a:t>
            </a:r>
          </a:p>
        </p:txBody>
      </p:sp>
      <p:sp>
        <p:nvSpPr>
          <p:cNvPr id="4" name="Rounded Rectangle 3"/>
          <p:cNvSpPr/>
          <p:nvPr/>
        </p:nvSpPr>
        <p:spPr>
          <a:xfrm>
            <a:off x="7680960" y="822960"/>
            <a:ext cx="3931920" cy="4937760"/>
          </a:xfrm>
          <a:prstGeom prst="roundRect">
            <a:avLst>
              <a:gd name="adj" fmla="val 500000000"/>
            </a:avLst>
          </a:prstGeom>
          <a:solidFill>
            <a:srgbClr val="E0E0E0"/>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0" y="3017520"/>
            <a:ext cx="3931920" cy="457200"/>
          </a:xfrm>
          <a:prstGeom prst="rect">
            <a:avLst/>
          </a:prstGeom>
          <a:noFill/>
        </p:spPr>
        <p:txBody>
          <a:bodyPr wrap="square">
            <a:spAutoFit/>
          </a:bodyPr>
          <a:lstStyle/>
          <a:p>
            <a:pPr algn="ctr"/>
            <a:r>
              <a:rPr sz="1200" b="0">
                <a:solidFill>
                  <a:srgbClr val="CCCCCC"/>
                </a:solidFill>
                <a:latin typeface="Calibri"/>
              </a:rPr>
              <a:t>Image Placeholder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40080"/>
            <a:ext cx="10725912" cy="640080"/>
          </a:xfrm>
          <a:prstGeom prst="rect">
            <a:avLst/>
          </a:prstGeom>
          <a:noFill/>
        </p:spPr>
        <p:txBody>
          <a:bodyPr wrap="square">
            <a:spAutoFit/>
          </a:bodyPr>
          <a:lstStyle/>
          <a:p>
            <a:pPr algn="l"/>
            <a:r>
              <a:rPr sz="2400" b="1">
                <a:solidFill>
                  <a:srgbClr val="1D1D1F"/>
                </a:solidFill>
                <a:latin typeface="Calibri"/>
              </a:rPr>
              <a:t>Key Features &amp; Benefits</a:t>
            </a:r>
          </a:p>
        </p:txBody>
      </p:sp>
      <p:sp>
        <p:nvSpPr>
          <p:cNvPr id="3" name="Rectangle 2"/>
          <p:cNvSpPr/>
          <p:nvPr/>
        </p:nvSpPr>
        <p:spPr>
          <a:xfrm>
            <a:off x="731520" y="1417320"/>
            <a:ext cx="10725912" cy="12700"/>
          </a:xfrm>
          <a:prstGeom prst="rect">
            <a:avLst/>
          </a:prstGeom>
          <a:solidFill>
            <a:srgbClr val="E0E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64792"/>
            <a:ext cx="109728" cy="10972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91640"/>
            <a:ext cx="10058400" cy="640080"/>
          </a:xfrm>
          <a:prstGeom prst="rect">
            <a:avLst/>
          </a:prstGeom>
          <a:noFill/>
        </p:spPr>
        <p:txBody>
          <a:bodyPr wrap="square">
            <a:spAutoFit/>
          </a:bodyPr>
          <a:lstStyle/>
          <a:p>
            <a:pPr algn="l"/>
            <a:r>
              <a:rPr sz="1200" b="0">
                <a:solidFill>
                  <a:srgbClr val="1D1D1F"/>
                </a:solidFill>
                <a:latin typeface="Calibri"/>
              </a:rPr>
              <a:t>Clarity — Remove complexity, let content speak for itself</a:t>
            </a:r>
          </a:p>
        </p:txBody>
      </p:sp>
      <p:sp>
        <p:nvSpPr>
          <p:cNvPr id="6" name="Rectangle 5"/>
          <p:cNvSpPr/>
          <p:nvPr/>
        </p:nvSpPr>
        <p:spPr>
          <a:xfrm>
            <a:off x="731520" y="2633472"/>
            <a:ext cx="109728" cy="10972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60320"/>
            <a:ext cx="10058400" cy="640080"/>
          </a:xfrm>
          <a:prstGeom prst="rect">
            <a:avLst/>
          </a:prstGeom>
          <a:noFill/>
        </p:spPr>
        <p:txBody>
          <a:bodyPr wrap="square">
            <a:spAutoFit/>
          </a:bodyPr>
          <a:lstStyle/>
          <a:p>
            <a:pPr algn="l"/>
            <a:r>
              <a:rPr sz="1200" b="0">
                <a:solidFill>
                  <a:srgbClr val="1D1D1F"/>
                </a:solidFill>
                <a:latin typeface="Calibri"/>
              </a:rPr>
              <a:t>Deference — UI supports without competing with content</a:t>
            </a:r>
          </a:p>
        </p:txBody>
      </p:sp>
      <p:sp>
        <p:nvSpPr>
          <p:cNvPr id="8" name="Rectangle 7"/>
          <p:cNvSpPr/>
          <p:nvPr/>
        </p:nvSpPr>
        <p:spPr>
          <a:xfrm>
            <a:off x="731520" y="3502152"/>
            <a:ext cx="109728" cy="10972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058400" cy="640080"/>
          </a:xfrm>
          <a:prstGeom prst="rect">
            <a:avLst/>
          </a:prstGeom>
          <a:noFill/>
        </p:spPr>
        <p:txBody>
          <a:bodyPr wrap="square">
            <a:spAutoFit/>
          </a:bodyPr>
          <a:lstStyle/>
          <a:p>
            <a:pPr algn="l"/>
            <a:r>
              <a:rPr sz="1200" b="0">
                <a:solidFill>
                  <a:srgbClr val="1D1D1F"/>
                </a:solidFill>
                <a:latin typeface="Calibri"/>
              </a:rPr>
              <a:t>Depth — Visual layers create hierarchy and focus</a:t>
            </a:r>
          </a:p>
        </p:txBody>
      </p:sp>
      <p:sp>
        <p:nvSpPr>
          <p:cNvPr id="10" name="Rectangle 9"/>
          <p:cNvSpPr/>
          <p:nvPr/>
        </p:nvSpPr>
        <p:spPr>
          <a:xfrm>
            <a:off x="731520" y="4370832"/>
            <a:ext cx="109728" cy="10972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297680"/>
            <a:ext cx="10058400" cy="640080"/>
          </a:xfrm>
          <a:prstGeom prst="rect">
            <a:avLst/>
          </a:prstGeom>
          <a:noFill/>
        </p:spPr>
        <p:txBody>
          <a:bodyPr wrap="square">
            <a:spAutoFit/>
          </a:bodyPr>
          <a:lstStyle/>
          <a:p>
            <a:pPr algn="l"/>
            <a:r>
              <a:rPr sz="1200" b="0">
                <a:solidFill>
                  <a:srgbClr val="1D1D1F"/>
                </a:solidFill>
                <a:latin typeface="Calibri"/>
              </a:rPr>
              <a:t>Consistency — Predictable patterns build confidence</a:t>
            </a:r>
          </a:p>
        </p:txBody>
      </p:sp>
      <p:sp>
        <p:nvSpPr>
          <p:cNvPr id="12" name="Rectangle 11"/>
          <p:cNvSpPr/>
          <p:nvPr/>
        </p:nvSpPr>
        <p:spPr>
          <a:xfrm>
            <a:off x="731520" y="5239512"/>
            <a:ext cx="109728" cy="10972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166360"/>
            <a:ext cx="10058400" cy="640080"/>
          </a:xfrm>
          <a:prstGeom prst="rect">
            <a:avLst/>
          </a:prstGeom>
          <a:noFill/>
        </p:spPr>
        <p:txBody>
          <a:bodyPr wrap="square">
            <a:spAutoFit/>
          </a:bodyPr>
          <a:lstStyle/>
          <a:p>
            <a:pPr algn="l"/>
            <a:r>
              <a:rPr sz="1200" b="0">
                <a:solidFill>
                  <a:srgbClr val="1D1D1F"/>
                </a:solidFill>
                <a:latin typeface="Calibri"/>
              </a:rPr>
              <a:t>Feedback — Every action has a clear, immediate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7"/>
        </a:solidFill>
        <a:effectLst/>
      </p:bgPr>
    </p:bg>
    <p:spTree>
      <p:nvGrpSpPr>
        <p:cNvPr id="1" name=""/>
        <p:cNvGrpSpPr/>
        <p:nvPr/>
      </p:nvGrpSpPr>
      <p:grpSpPr/>
      <p:sp>
        <p:nvSpPr>
          <p:cNvPr id="2" name="TextBox 1"/>
          <p:cNvSpPr txBox="1"/>
          <p:nvPr/>
        </p:nvSpPr>
        <p:spPr>
          <a:xfrm>
            <a:off x="548640" y="365760"/>
            <a:ext cx="10725912" cy="548640"/>
          </a:xfrm>
          <a:prstGeom prst="rect">
            <a:avLst/>
          </a:prstGeom>
          <a:noFill/>
        </p:spPr>
        <p:txBody>
          <a:bodyPr wrap="square">
            <a:spAutoFit/>
          </a:bodyPr>
          <a:lstStyle/>
          <a:p>
            <a:pPr algn="l"/>
            <a:r>
              <a:rPr sz="2400" b="1">
                <a:solidFill>
                  <a:srgbClr val="1D1D1F"/>
                </a:solidFill>
                <a:latin typeface="Calibri"/>
              </a:rPr>
              <a:t>Performance Metrics</a:t>
            </a:r>
          </a:p>
        </p:txBody>
      </p:sp>
      <p:graphicFrame>
        <p:nvGraphicFramePr>
          <p:cNvPr id="3" name="Chart 2"/>
          <p:cNvGraphicFramePr>
            <a:graphicFrameLocks noGrp="1"/>
          </p:cNvGraphicFramePr>
          <p:nvPr/>
        </p:nvGraphicFramePr>
        <p:xfrm>
          <a:off x="548640" y="1097280"/>
          <a:ext cx="11091672" cy="5212080"/>
        </p:xfrm>
        <a:graphic>
          <a:graphicData uri="http://schemas.openxmlformats.org/drawingml/2006/chart">
            <c:chart xmlns:c="http://schemas.openxmlformats.org/drawingml/2006/chart" r:id="rId2"/>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725912" cy="548640"/>
          </a:xfrm>
          <a:prstGeom prst="rect">
            <a:avLst/>
          </a:prstGeom>
          <a:noFill/>
        </p:spPr>
        <p:txBody>
          <a:bodyPr wrap="square">
            <a:spAutoFit/>
          </a:bodyPr>
          <a:lstStyle/>
          <a:p>
            <a:pPr algn="l"/>
            <a:r>
              <a:rPr sz="2400" b="1">
                <a:solidFill>
                  <a:srgbClr val="1D1D1F"/>
                </a:solidFill>
                <a:latin typeface="Calibri"/>
              </a:rPr>
              <a:t>Growth Trends</a:t>
            </a:r>
          </a:p>
        </p:txBody>
      </p:sp>
      <p:graphicFrame>
        <p:nvGraphicFramePr>
          <p:cNvPr id="3" name="Chart 2"/>
          <p:cNvGraphicFramePr>
            <a:graphicFrameLocks noGrp="1"/>
          </p:cNvGraphicFramePr>
          <p:nvPr/>
        </p:nvGraphicFramePr>
        <p:xfrm>
          <a:off x="548640" y="1097280"/>
          <a:ext cx="11091672" cy="5212080"/>
        </p:xfrm>
        <a:graphic>
          <a:graphicData uri="http://schemas.openxmlformats.org/drawingml/2006/chart">
            <c:chart xmlns:c="http://schemas.openxmlformats.org/drawingml/2006/chart" r:id="rId2"/>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729"/>
        </a:solidFill>
        <a:effectLst/>
      </p:bgPr>
    </p:bg>
    <p:spTree>
      <p:nvGrpSpPr>
        <p:cNvPr id="1" name=""/>
        <p:cNvGrpSpPr/>
        <p:nvPr/>
      </p:nvGrpSpPr>
      <p:grpSpPr/>
      <p:sp>
        <p:nvSpPr>
          <p:cNvPr id="2" name="TextBox 1"/>
          <p:cNvSpPr txBox="1"/>
          <p:nvPr/>
        </p:nvSpPr>
        <p:spPr>
          <a:xfrm>
            <a:off x="548640" y="365760"/>
            <a:ext cx="10725912" cy="548640"/>
          </a:xfrm>
          <a:prstGeom prst="rect">
            <a:avLst/>
          </a:prstGeom>
          <a:noFill/>
        </p:spPr>
        <p:txBody>
          <a:bodyPr wrap="square">
            <a:spAutoFit/>
          </a:bodyPr>
          <a:lstStyle/>
          <a:p>
            <a:pPr algn="l"/>
            <a:r>
              <a:rPr sz="2400" b="1">
                <a:solidFill>
                  <a:srgbClr val="FFFFFF"/>
                </a:solidFill>
                <a:latin typeface="Calibri"/>
              </a:rPr>
              <a:t>Market Distribution</a:t>
            </a:r>
          </a:p>
        </p:txBody>
      </p:sp>
      <p:graphicFrame>
        <p:nvGraphicFramePr>
          <p:cNvPr id="3" name="Chart 2"/>
          <p:cNvGraphicFramePr>
            <a:graphicFrameLocks noGrp="1"/>
          </p:cNvGraphicFramePr>
          <p:nvPr/>
        </p:nvGraphicFramePr>
        <p:xfrm>
          <a:off x="1828800" y="914400"/>
          <a:ext cx="8531352" cy="5486400"/>
        </p:xfrm>
        <a:graphic>
          <a:graphicData uri="http://schemas.openxmlformats.org/drawingml/2006/chart">
            <c:chart xmlns:c="http://schemas.openxmlformats.org/drawingml/2006/chart" r:id="rId2"/>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0725912" cy="548640"/>
          </a:xfrm>
          <a:prstGeom prst="rect">
            <a:avLst/>
          </a:prstGeom>
          <a:noFill/>
        </p:spPr>
        <p:txBody>
          <a:bodyPr wrap="square">
            <a:spAutoFit/>
          </a:bodyPr>
          <a:lstStyle/>
          <a:p>
            <a:pPr algn="l"/>
            <a:r>
              <a:rPr sz="2400" b="1">
                <a:solidFill>
                  <a:srgbClr val="1D1D1F"/>
                </a:solidFill>
                <a:latin typeface="Calibri"/>
              </a:rPr>
              <a:t>Quarterly Summary</a:t>
            </a:r>
          </a:p>
        </p:txBody>
      </p:sp>
      <p:graphicFrame>
        <p:nvGraphicFramePr>
          <p:cNvPr id="3" name="Table 2"/>
          <p:cNvGraphicFramePr>
            <a:graphicFrameLocks noGrp="1"/>
          </p:cNvGraphicFramePr>
          <p:nvPr/>
        </p:nvGraphicFramePr>
        <p:xfrm>
          <a:off x="548640" y="1188720"/>
          <a:ext cx="11091672" cy="4389120"/>
        </p:xfrm>
        <a:graphic>
          <a:graphicData uri="http://schemas.openxmlformats.org/drawingml/2006/table">
            <a:tbl>
              <a:tblPr firstRow="1" bandRow="1">
                <a:tableStyleId>{5C22544A-7EE6-4342-B048-85BDC9FD1C3A}</a:tableStyleId>
              </a:tblPr>
              <a:tblGrid>
                <a:gridCol w="3200400"/>
                <a:gridCol w="2651760"/>
                <a:gridCol w="2651760"/>
                <a:gridCol w="2587752"/>
              </a:tblGrid>
              <a:tr h="877824">
                <a:tc>
                  <a:txBody>
                    <a:bodyPr/>
                    <a:lstStyle/>
                    <a:p>
                      <a:pPr algn="ctr"/>
                      <a:r>
                        <a:rPr sz="1200" b="1">
                          <a:solidFill>
                            <a:srgbClr val="FFFFFF"/>
                          </a:solidFill>
                          <a:latin typeface="Calibri"/>
                        </a:rPr>
                        <a:t>Category</a:t>
                      </a:r>
                    </a:p>
                  </a:txBody>
                  <a:tcPr>
                    <a:solidFill>
                      <a:srgbClr val="1D1D1F"/>
                    </a:solidFill>
                  </a:tcPr>
                </a:tc>
                <a:tc>
                  <a:txBody>
                    <a:bodyPr/>
                    <a:lstStyle/>
                    <a:p>
                      <a:pPr algn="ctr"/>
                      <a:r>
                        <a:rPr sz="1200" b="1">
                          <a:solidFill>
                            <a:srgbClr val="FFFFFF"/>
                          </a:solidFill>
                          <a:latin typeface="Calibri"/>
                        </a:rPr>
                        <a:t>Q1 2024</a:t>
                      </a:r>
                    </a:p>
                  </a:txBody>
                  <a:tcPr>
                    <a:solidFill>
                      <a:srgbClr val="1D1D1F"/>
                    </a:solidFill>
                  </a:tcPr>
                </a:tc>
                <a:tc>
                  <a:txBody>
                    <a:bodyPr/>
                    <a:lstStyle/>
                    <a:p>
                      <a:pPr algn="ctr"/>
                      <a:r>
                        <a:rPr sz="1200" b="1">
                          <a:solidFill>
                            <a:srgbClr val="FFFFFF"/>
                          </a:solidFill>
                          <a:latin typeface="Calibri"/>
                        </a:rPr>
                        <a:t>Q2 2024</a:t>
                      </a:r>
                    </a:p>
                  </a:txBody>
                  <a:tcPr>
                    <a:solidFill>
                      <a:srgbClr val="1D1D1F"/>
                    </a:solidFill>
                  </a:tcPr>
                </a:tc>
                <a:tc>
                  <a:txBody>
                    <a:bodyPr/>
                    <a:lstStyle/>
                    <a:p>
                      <a:pPr algn="ctr"/>
                      <a:r>
                        <a:rPr sz="1200" b="1">
                          <a:solidFill>
                            <a:srgbClr val="FFFFFF"/>
                          </a:solidFill>
                          <a:latin typeface="Calibri"/>
                        </a:rPr>
                        <a:t>Q3 2024</a:t>
                      </a:r>
                    </a:p>
                  </a:txBody>
                  <a:tcPr>
                    <a:solidFill>
                      <a:srgbClr val="1D1D1F"/>
                    </a:solidFill>
                  </a:tcPr>
                </a:tc>
              </a:tr>
              <a:tr h="877824">
                <a:tc>
                  <a:txBody>
                    <a:bodyPr/>
                    <a:lstStyle/>
                    <a:p>
                      <a:pPr algn="ctr"/>
                      <a:r>
                        <a:rPr sz="1200">
                          <a:solidFill>
                            <a:srgbClr val="1D1D1F"/>
                          </a:solidFill>
                          <a:latin typeface="Calibri"/>
                        </a:rPr>
                        <a:t>iPhone</a:t>
                      </a:r>
                    </a:p>
                  </a:txBody>
                  <a:tcPr>
                    <a:solidFill>
                      <a:srgbClr val="FFFFFF"/>
                    </a:solidFill>
                  </a:tcPr>
                </a:tc>
                <a:tc>
                  <a:txBody>
                    <a:bodyPr/>
                    <a:lstStyle/>
                    <a:p>
                      <a:pPr algn="ctr"/>
                      <a:r>
                        <a:rPr sz="1200">
                          <a:solidFill>
                            <a:srgbClr val="1D1D1F"/>
                          </a:solidFill>
                          <a:latin typeface="Calibri"/>
                        </a:rPr>
                        <a:t>$51.3B</a:t>
                      </a:r>
                    </a:p>
                  </a:txBody>
                  <a:tcPr>
                    <a:solidFill>
                      <a:srgbClr val="FFFFFF"/>
                    </a:solidFill>
                  </a:tcPr>
                </a:tc>
                <a:tc>
                  <a:txBody>
                    <a:bodyPr/>
                    <a:lstStyle/>
                    <a:p>
                      <a:pPr algn="ctr"/>
                      <a:r>
                        <a:rPr sz="1200">
                          <a:solidFill>
                            <a:srgbClr val="1D1D1F"/>
                          </a:solidFill>
                          <a:latin typeface="Calibri"/>
                        </a:rPr>
                        <a:t>$55.1B</a:t>
                      </a:r>
                    </a:p>
                  </a:txBody>
                  <a:tcPr>
                    <a:solidFill>
                      <a:srgbClr val="FFFFFF"/>
                    </a:solidFill>
                  </a:tcPr>
                </a:tc>
                <a:tc>
                  <a:txBody>
                    <a:bodyPr/>
                    <a:lstStyle/>
                    <a:p>
                      <a:pPr algn="ctr"/>
                      <a:r>
                        <a:rPr sz="1200">
                          <a:solidFill>
                            <a:srgbClr val="1D1D1F"/>
                          </a:solidFill>
                          <a:latin typeface="Calibri"/>
                        </a:rPr>
                        <a:t>$58.7B</a:t>
                      </a:r>
                    </a:p>
                  </a:txBody>
                  <a:tcPr>
                    <a:solidFill>
                      <a:srgbClr val="FFFFFF"/>
                    </a:solidFill>
                  </a:tcPr>
                </a:tc>
              </a:tr>
              <a:tr h="877824">
                <a:tc>
                  <a:txBody>
                    <a:bodyPr/>
                    <a:lstStyle/>
                    <a:p>
                      <a:pPr algn="ctr"/>
                      <a:r>
                        <a:rPr sz="1200">
                          <a:solidFill>
                            <a:srgbClr val="1D1D1F"/>
                          </a:solidFill>
                          <a:latin typeface="Calibri"/>
                        </a:rPr>
                        <a:t>Mac</a:t>
                      </a:r>
                    </a:p>
                  </a:txBody>
                  <a:tcPr>
                    <a:solidFill>
                      <a:srgbClr val="F5F5F7"/>
                    </a:solidFill>
                  </a:tcPr>
                </a:tc>
                <a:tc>
                  <a:txBody>
                    <a:bodyPr/>
                    <a:lstStyle/>
                    <a:p>
                      <a:pPr algn="ctr"/>
                      <a:r>
                        <a:rPr sz="1200">
                          <a:solidFill>
                            <a:srgbClr val="1D1D1F"/>
                          </a:solidFill>
                          <a:latin typeface="Calibri"/>
                        </a:rPr>
                        <a:t>$7.2B</a:t>
                      </a:r>
                    </a:p>
                  </a:txBody>
                  <a:tcPr>
                    <a:solidFill>
                      <a:srgbClr val="F5F5F7"/>
                    </a:solidFill>
                  </a:tcPr>
                </a:tc>
                <a:tc>
                  <a:txBody>
                    <a:bodyPr/>
                    <a:lstStyle/>
                    <a:p>
                      <a:pPr algn="ctr"/>
                      <a:r>
                        <a:rPr sz="1200">
                          <a:solidFill>
                            <a:srgbClr val="1D1D1F"/>
                          </a:solidFill>
                          <a:latin typeface="Calibri"/>
                        </a:rPr>
                        <a:t>$8.0B</a:t>
                      </a:r>
                    </a:p>
                  </a:txBody>
                  <a:tcPr>
                    <a:solidFill>
                      <a:srgbClr val="F5F5F7"/>
                    </a:solidFill>
                  </a:tcPr>
                </a:tc>
                <a:tc>
                  <a:txBody>
                    <a:bodyPr/>
                    <a:lstStyle/>
                    <a:p>
                      <a:pPr algn="ctr"/>
                      <a:r>
                        <a:rPr sz="1200">
                          <a:solidFill>
                            <a:srgbClr val="1D1D1F"/>
                          </a:solidFill>
                          <a:latin typeface="Calibri"/>
                        </a:rPr>
                        <a:t>$9.3B</a:t>
                      </a:r>
                    </a:p>
                  </a:txBody>
                  <a:tcPr>
                    <a:solidFill>
                      <a:srgbClr val="F5F5F7"/>
                    </a:solidFill>
                  </a:tcPr>
                </a:tc>
              </a:tr>
              <a:tr h="877824">
                <a:tc>
                  <a:txBody>
                    <a:bodyPr/>
                    <a:lstStyle/>
                    <a:p>
                      <a:pPr algn="ctr"/>
                      <a:r>
                        <a:rPr sz="1200">
                          <a:solidFill>
                            <a:srgbClr val="1D1D1F"/>
                          </a:solidFill>
                          <a:latin typeface="Calibri"/>
                        </a:rPr>
                        <a:t>iPad</a:t>
                      </a:r>
                    </a:p>
                  </a:txBody>
                  <a:tcPr>
                    <a:solidFill>
                      <a:srgbClr val="FFFFFF"/>
                    </a:solidFill>
                  </a:tcPr>
                </a:tc>
                <a:tc>
                  <a:txBody>
                    <a:bodyPr/>
                    <a:lstStyle/>
                    <a:p>
                      <a:pPr algn="ctr"/>
                      <a:r>
                        <a:rPr sz="1200">
                          <a:solidFill>
                            <a:srgbClr val="1D1D1F"/>
                          </a:solidFill>
                          <a:latin typeface="Calibri"/>
                        </a:rPr>
                        <a:t>$5.6B</a:t>
                      </a:r>
                    </a:p>
                  </a:txBody>
                  <a:tcPr>
                    <a:solidFill>
                      <a:srgbClr val="FFFFFF"/>
                    </a:solidFill>
                  </a:tcPr>
                </a:tc>
                <a:tc>
                  <a:txBody>
                    <a:bodyPr/>
                    <a:lstStyle/>
                    <a:p>
                      <a:pPr algn="ctr"/>
                      <a:r>
                        <a:rPr sz="1200">
                          <a:solidFill>
                            <a:srgbClr val="1D1D1F"/>
                          </a:solidFill>
                          <a:latin typeface="Calibri"/>
                        </a:rPr>
                        <a:t>$6.1B</a:t>
                      </a:r>
                    </a:p>
                  </a:txBody>
                  <a:tcPr>
                    <a:solidFill>
                      <a:srgbClr val="FFFFFF"/>
                    </a:solidFill>
                  </a:tcPr>
                </a:tc>
                <a:tc>
                  <a:txBody>
                    <a:bodyPr/>
                    <a:lstStyle/>
                    <a:p>
                      <a:pPr algn="ctr"/>
                      <a:r>
                        <a:rPr sz="1200">
                          <a:solidFill>
                            <a:srgbClr val="1D1D1F"/>
                          </a:solidFill>
                          <a:latin typeface="Calibri"/>
                        </a:rPr>
                        <a:t>$6.9B</a:t>
                      </a:r>
                    </a:p>
                  </a:txBody>
                  <a:tcPr>
                    <a:solidFill>
                      <a:srgbClr val="FFFFFF"/>
                    </a:solidFill>
                  </a:tcPr>
                </a:tc>
              </a:tr>
              <a:tr h="877824">
                <a:tc>
                  <a:txBody>
                    <a:bodyPr/>
                    <a:lstStyle/>
                    <a:p>
                      <a:pPr algn="ctr"/>
                      <a:r>
                        <a:rPr sz="1200">
                          <a:solidFill>
                            <a:srgbClr val="1D1D1F"/>
                          </a:solidFill>
                          <a:latin typeface="Calibri"/>
                        </a:rPr>
                        <a:t>Wearables</a:t>
                      </a:r>
                    </a:p>
                  </a:txBody>
                  <a:tcPr>
                    <a:solidFill>
                      <a:srgbClr val="F5F5F7"/>
                    </a:solidFill>
                  </a:tcPr>
                </a:tc>
                <a:tc>
                  <a:txBody>
                    <a:bodyPr/>
                    <a:lstStyle/>
                    <a:p>
                      <a:pPr algn="ctr"/>
                      <a:r>
                        <a:rPr sz="1200">
                          <a:solidFill>
                            <a:srgbClr val="1D1D1F"/>
                          </a:solidFill>
                          <a:latin typeface="Calibri"/>
                        </a:rPr>
                        <a:t>$9.8B</a:t>
                      </a:r>
                    </a:p>
                  </a:txBody>
                  <a:tcPr>
                    <a:solidFill>
                      <a:srgbClr val="F5F5F7"/>
                    </a:solidFill>
                  </a:tcPr>
                </a:tc>
                <a:tc>
                  <a:txBody>
                    <a:bodyPr/>
                    <a:lstStyle/>
                    <a:p>
                      <a:pPr algn="ctr"/>
                      <a:r>
                        <a:rPr sz="1200">
                          <a:solidFill>
                            <a:srgbClr val="1D1D1F"/>
                          </a:solidFill>
                          <a:latin typeface="Calibri"/>
                        </a:rPr>
                        <a:t>$10.2B</a:t>
                      </a:r>
                    </a:p>
                  </a:txBody>
                  <a:tcPr>
                    <a:solidFill>
                      <a:srgbClr val="F5F5F7"/>
                    </a:solidFill>
                  </a:tcPr>
                </a:tc>
                <a:tc>
                  <a:txBody>
                    <a:bodyPr/>
                    <a:lstStyle/>
                    <a:p>
                      <a:pPr algn="ctr"/>
                      <a:r>
                        <a:rPr sz="1200">
                          <a:solidFill>
                            <a:srgbClr val="1D1D1F"/>
                          </a:solidFill>
                          <a:latin typeface="Calibri"/>
                        </a:rPr>
                        <a:t>$11.1B</a:t>
                      </a:r>
                    </a:p>
                  </a:txBody>
                  <a:tcPr>
                    <a:solidFill>
                      <a:srgbClr val="F5F5F7"/>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729"/>
        </a:solidFill>
        <a:effectLst/>
      </p:bgPr>
    </p:bg>
    <p:spTree>
      <p:nvGrpSpPr>
        <p:cNvPr id="1" name=""/>
        <p:cNvGrpSpPr/>
        <p:nvPr/>
      </p:nvGrpSpPr>
      <p:grpSpPr/>
      <p:sp>
        <p:nvSpPr>
          <p:cNvPr id="2" name="TextBox 1"/>
          <p:cNvSpPr txBox="1"/>
          <p:nvPr/>
        </p:nvSpPr>
        <p:spPr>
          <a:xfrm>
            <a:off x="548640" y="640080"/>
            <a:ext cx="2743200" cy="1371600"/>
          </a:xfrm>
          <a:prstGeom prst="rect">
            <a:avLst/>
          </a:prstGeom>
          <a:noFill/>
        </p:spPr>
        <p:txBody>
          <a:bodyPr wrap="square">
            <a:spAutoFit/>
          </a:bodyPr>
          <a:lstStyle/>
          <a:p>
            <a:pPr algn="l"/>
            <a:r>
              <a:rPr sz="7200" b="1">
                <a:solidFill>
                  <a:srgbClr val="0066CC"/>
                </a:solidFill>
                <a:latin typeface="Calibri"/>
              </a:rPr>
              <a:t>❝</a:t>
            </a:r>
          </a:p>
        </p:txBody>
      </p:sp>
      <p:sp>
        <p:nvSpPr>
          <p:cNvPr id="3" name="TextBox 2"/>
          <p:cNvSpPr txBox="1"/>
          <p:nvPr/>
        </p:nvSpPr>
        <p:spPr>
          <a:xfrm>
            <a:off x="914400" y="2194560"/>
            <a:ext cx="10360152" cy="1645920"/>
          </a:xfrm>
          <a:prstGeom prst="rect">
            <a:avLst/>
          </a:prstGeom>
          <a:noFill/>
        </p:spPr>
        <p:txBody>
          <a:bodyPr wrap="square">
            <a:spAutoFit/>
          </a:bodyPr>
          <a:lstStyle/>
          <a:p>
            <a:pPr algn="ctr"/>
            <a:r>
              <a:rPr sz="2400" b="0">
                <a:solidFill>
                  <a:srgbClr val="FFFFFF"/>
                </a:solidFill>
                <a:latin typeface="Calibri"/>
              </a:rPr>
              <a:t>Design is not just what it looks like and feels like.
Design is how it works.</a:t>
            </a:r>
          </a:p>
        </p:txBody>
      </p:sp>
      <p:sp>
        <p:nvSpPr>
          <p:cNvPr id="4" name="TextBox 3"/>
          <p:cNvSpPr txBox="1"/>
          <p:nvPr/>
        </p:nvSpPr>
        <p:spPr>
          <a:xfrm>
            <a:off x="914400" y="4023360"/>
            <a:ext cx="10360152" cy="548640"/>
          </a:xfrm>
          <a:prstGeom prst="rect">
            <a:avLst/>
          </a:prstGeom>
          <a:noFill/>
        </p:spPr>
        <p:txBody>
          <a:bodyPr wrap="square">
            <a:spAutoFit/>
          </a:bodyPr>
          <a:lstStyle/>
          <a:p>
            <a:pPr algn="ctr"/>
            <a:r>
              <a:rPr sz="1400" b="0">
                <a:solidFill>
                  <a:srgbClr val="CCCCCC"/>
                </a:solidFill>
                <a:latin typeface="Calibri"/>
              </a:rPr>
              <a:t>— Steve Jobs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1672" cy="594360"/>
          </a:xfrm>
          <a:prstGeom prst="rect">
            <a:avLst/>
          </a:prstGeom>
          <a:noFill/>
        </p:spPr>
        <p:txBody>
          <a:bodyPr wrap="square">
            <a:spAutoFit/>
          </a:bodyPr>
          <a:lstStyle/>
          <a:p>
            <a:pPr algn="ctr"/>
            <a:r>
              <a:rPr sz="2400" b="1">
                <a:solidFill>
                  <a:srgbClr val="1D1D1F"/>
                </a:solidFill>
                <a:latin typeface="Calibri"/>
              </a:rPr>
              <a:t>Side-by-Side Comparison</a:t>
            </a:r>
          </a:p>
        </p:txBody>
      </p:sp>
      <p:sp>
        <p:nvSpPr>
          <p:cNvPr id="3" name="Rectangle 2"/>
          <p:cNvSpPr/>
          <p:nvPr/>
        </p:nvSpPr>
        <p:spPr>
          <a:xfrm>
            <a:off x="457200" y="1188720"/>
            <a:ext cx="5394960" cy="5029200"/>
          </a:xfrm>
          <a:prstGeom prst="rect">
            <a:avLst/>
          </a:prstGeom>
          <a:solidFill>
            <a:srgbClr val="F5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5029200" cy="502920"/>
          </a:xfrm>
          <a:prstGeom prst="rect">
            <a:avLst/>
          </a:prstGeom>
          <a:noFill/>
        </p:spPr>
        <p:txBody>
          <a:bodyPr wrap="square">
            <a:spAutoFit/>
          </a:bodyPr>
          <a:lstStyle/>
          <a:p>
            <a:pPr algn="l"/>
            <a:r>
              <a:rPr sz="1500" b="1">
                <a:solidFill>
                  <a:srgbClr val="1D1D1F"/>
                </a:solidFill>
                <a:latin typeface="Calibri"/>
              </a:rPr>
              <a:t>Option A</a:t>
            </a:r>
          </a:p>
        </p:txBody>
      </p:sp>
      <p:sp>
        <p:nvSpPr>
          <p:cNvPr id="5" name="TextBox 4"/>
          <p:cNvSpPr txBox="1"/>
          <p:nvPr/>
        </p:nvSpPr>
        <p:spPr>
          <a:xfrm>
            <a:off x="640080" y="2194560"/>
            <a:ext cx="4937760" cy="548640"/>
          </a:xfrm>
          <a:prstGeom prst="rect">
            <a:avLst/>
          </a:prstGeom>
          <a:noFill/>
        </p:spPr>
        <p:txBody>
          <a:bodyPr wrap="square">
            <a:spAutoFit/>
          </a:bodyPr>
          <a:lstStyle/>
          <a:p>
            <a:pPr algn="l"/>
            <a:r>
              <a:rPr sz="1200" b="0">
                <a:solidFill>
                  <a:srgbClr val="1D1D1F"/>
                </a:solidFill>
                <a:latin typeface="Calibri"/>
              </a:rPr>
              <a:t>• Clear and minimal interface design</a:t>
            </a:r>
          </a:p>
        </p:txBody>
      </p:sp>
      <p:sp>
        <p:nvSpPr>
          <p:cNvPr id="6" name="TextBox 5"/>
          <p:cNvSpPr txBox="1"/>
          <p:nvPr/>
        </p:nvSpPr>
        <p:spPr>
          <a:xfrm>
            <a:off x="640080" y="2926080"/>
            <a:ext cx="4937760" cy="548640"/>
          </a:xfrm>
          <a:prstGeom prst="rect">
            <a:avLst/>
          </a:prstGeom>
          <a:noFill/>
        </p:spPr>
        <p:txBody>
          <a:bodyPr wrap="square">
            <a:spAutoFit/>
          </a:bodyPr>
          <a:lstStyle/>
          <a:p>
            <a:pPr algn="l"/>
            <a:r>
              <a:rPr sz="1200" b="0">
                <a:solidFill>
                  <a:srgbClr val="1D1D1F"/>
                </a:solidFill>
                <a:latin typeface="Calibri"/>
              </a:rPr>
              <a:t>• Optimized for everyday workflows</a:t>
            </a:r>
          </a:p>
        </p:txBody>
      </p:sp>
      <p:sp>
        <p:nvSpPr>
          <p:cNvPr id="7" name="TextBox 6"/>
          <p:cNvSpPr txBox="1"/>
          <p:nvPr/>
        </p:nvSpPr>
        <p:spPr>
          <a:xfrm>
            <a:off x="640080" y="3657600"/>
            <a:ext cx="4937760" cy="548640"/>
          </a:xfrm>
          <a:prstGeom prst="rect">
            <a:avLst/>
          </a:prstGeom>
          <a:noFill/>
        </p:spPr>
        <p:txBody>
          <a:bodyPr wrap="square">
            <a:spAutoFit/>
          </a:bodyPr>
          <a:lstStyle/>
          <a:p>
            <a:pPr algn="l"/>
            <a:r>
              <a:rPr sz="1200" b="0">
                <a:solidFill>
                  <a:srgbClr val="1D1D1F"/>
                </a:solidFill>
                <a:latin typeface="Calibri"/>
              </a:rPr>
              <a:t>• Seamless device integration</a:t>
            </a:r>
          </a:p>
        </p:txBody>
      </p:sp>
      <p:sp>
        <p:nvSpPr>
          <p:cNvPr id="8" name="Rectangle 7"/>
          <p:cNvSpPr/>
          <p:nvPr/>
        </p:nvSpPr>
        <p:spPr>
          <a:xfrm>
            <a:off x="6336792" y="1188720"/>
            <a:ext cx="5394960" cy="5029200"/>
          </a:xfrm>
          <a:prstGeom prst="rect">
            <a:avLst/>
          </a:prstGeom>
          <a:solidFill>
            <a:srgbClr val="2727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463040"/>
            <a:ext cx="5029200" cy="502920"/>
          </a:xfrm>
          <a:prstGeom prst="rect">
            <a:avLst/>
          </a:prstGeom>
          <a:noFill/>
        </p:spPr>
        <p:txBody>
          <a:bodyPr wrap="square">
            <a:spAutoFit/>
          </a:bodyPr>
          <a:lstStyle/>
          <a:p>
            <a:pPr algn="l"/>
            <a:r>
              <a:rPr sz="1500" b="1">
                <a:solidFill>
                  <a:srgbClr val="FFFFFF"/>
                </a:solidFill>
                <a:latin typeface="Calibri"/>
              </a:rPr>
              <a:t>Option B</a:t>
            </a:r>
          </a:p>
        </p:txBody>
      </p:sp>
      <p:sp>
        <p:nvSpPr>
          <p:cNvPr id="10" name="TextBox 9"/>
          <p:cNvSpPr txBox="1"/>
          <p:nvPr/>
        </p:nvSpPr>
        <p:spPr>
          <a:xfrm>
            <a:off x="6519672" y="2194560"/>
            <a:ext cx="4937760" cy="548640"/>
          </a:xfrm>
          <a:prstGeom prst="rect">
            <a:avLst/>
          </a:prstGeom>
          <a:noFill/>
        </p:spPr>
        <p:txBody>
          <a:bodyPr wrap="square">
            <a:spAutoFit/>
          </a:bodyPr>
          <a:lstStyle/>
          <a:p>
            <a:pPr algn="l"/>
            <a:r>
              <a:rPr sz="1200" b="0">
                <a:solidFill>
                  <a:srgbClr val="FFFFFF"/>
                </a:solidFill>
                <a:latin typeface="Calibri"/>
              </a:rPr>
              <a:t>• Immersive dark mode experience</a:t>
            </a:r>
          </a:p>
        </p:txBody>
      </p:sp>
      <p:sp>
        <p:nvSpPr>
          <p:cNvPr id="11" name="TextBox 10"/>
          <p:cNvSpPr txBox="1"/>
          <p:nvPr/>
        </p:nvSpPr>
        <p:spPr>
          <a:xfrm>
            <a:off x="6519672" y="2926080"/>
            <a:ext cx="4937760" cy="548640"/>
          </a:xfrm>
          <a:prstGeom prst="rect">
            <a:avLst/>
          </a:prstGeom>
          <a:noFill/>
        </p:spPr>
        <p:txBody>
          <a:bodyPr wrap="square">
            <a:spAutoFit/>
          </a:bodyPr>
          <a:lstStyle/>
          <a:p>
            <a:pPr algn="l"/>
            <a:r>
              <a:rPr sz="1200" b="0">
                <a:solidFill>
                  <a:srgbClr val="FFFFFF"/>
                </a:solidFill>
                <a:latin typeface="Calibri"/>
              </a:rPr>
              <a:t>• Engineered for power users</a:t>
            </a:r>
          </a:p>
        </p:txBody>
      </p:sp>
      <p:sp>
        <p:nvSpPr>
          <p:cNvPr id="12" name="TextBox 11"/>
          <p:cNvSpPr txBox="1"/>
          <p:nvPr/>
        </p:nvSpPr>
        <p:spPr>
          <a:xfrm>
            <a:off x="6519672" y="3657600"/>
            <a:ext cx="4937760" cy="548640"/>
          </a:xfrm>
          <a:prstGeom prst="rect">
            <a:avLst/>
          </a:prstGeom>
          <a:noFill/>
        </p:spPr>
        <p:txBody>
          <a:bodyPr wrap="square">
            <a:spAutoFit/>
          </a:bodyPr>
          <a:lstStyle/>
          <a:p>
            <a:pPr algn="l"/>
            <a:r>
              <a:rPr sz="1200" b="0">
                <a:solidFill>
                  <a:srgbClr val="FFFFFF"/>
                </a:solidFill>
                <a:latin typeface="Calibri"/>
              </a:rPr>
              <a:t>• Advanced customization options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645920"/>
            <a:ext cx="10360152" cy="1188720"/>
          </a:xfrm>
          <a:prstGeom prst="rect">
            <a:avLst/>
          </a:prstGeom>
          <a:noFill/>
        </p:spPr>
        <p:txBody>
          <a:bodyPr wrap="square">
            <a:spAutoFit/>
          </a:bodyPr>
          <a:lstStyle/>
          <a:p>
            <a:pPr algn="ctr"/>
            <a:r>
              <a:rPr sz="4000" b="1">
                <a:solidFill>
                  <a:srgbClr val="FFFFFF"/>
                </a:solidFill>
                <a:latin typeface="Calibri"/>
              </a:rPr>
              <a:t>The Future is Here.</a:t>
            </a:r>
          </a:p>
        </p:txBody>
      </p:sp>
      <p:sp>
        <p:nvSpPr>
          <p:cNvPr id="3" name="TextBox 2"/>
          <p:cNvSpPr txBox="1"/>
          <p:nvPr/>
        </p:nvSpPr>
        <p:spPr>
          <a:xfrm>
            <a:off x="1371600" y="2926080"/>
            <a:ext cx="9445752" cy="731520"/>
          </a:xfrm>
          <a:prstGeom prst="rect">
            <a:avLst/>
          </a:prstGeom>
          <a:noFill/>
        </p:spPr>
        <p:txBody>
          <a:bodyPr wrap="square">
            <a:spAutoFit/>
          </a:bodyPr>
          <a:lstStyle/>
          <a:p>
            <a:pPr algn="ctr"/>
            <a:r>
              <a:rPr sz="2000" b="0">
                <a:solidFill>
                  <a:srgbClr val="CCCCCC"/>
                </a:solidFill>
                <a:latin typeface="Calibri"/>
              </a:rPr>
              <a:t>Join us in building the next generation of experiences.</a:t>
            </a:r>
          </a:p>
        </p:txBody>
      </p:sp>
      <p:sp>
        <p:nvSpPr>
          <p:cNvPr id="4" name="Rounded Rectangle 3"/>
          <p:cNvSpPr/>
          <p:nvPr/>
        </p:nvSpPr>
        <p:spPr>
          <a:xfrm>
            <a:off x="5088636" y="4800600"/>
            <a:ext cx="2011680" cy="457200"/>
          </a:xfrm>
          <a:prstGeom prst="roundRect">
            <a:avLst>
              <a:gd name="adj" fmla="val 5000000000"/>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0">
                <a:solidFill>
                  <a:srgbClr val="FFFFFF"/>
                </a:solidFill>
                <a:latin typeface="Calibri"/>
              </a:rPr>
              <a:t>Get Started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