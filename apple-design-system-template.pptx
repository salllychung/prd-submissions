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Product Revenue</c:v>
                </c:pt>
              </c:strCache>
            </c:strRef>
          </c:tx>
          <c:cat>
            <c:strRef>
              <c:f>Sheet1!$A$2:$A$5</c:f>
              <c:strCache>
                <c:ptCount val="4"/>
                <c:pt idx="0">
                  <c:v>Q1</c:v>
                </c:pt>
                <c:pt idx="1">
                  <c:v>Q2</c:v>
                </c:pt>
                <c:pt idx="2">
                  <c:v>Q3</c:v>
                </c:pt>
                <c:pt idx="3">
                  <c:v>Q4</c:v>
                </c:pt>
              </c:strCache>
            </c:strRef>
          </c:cat>
          <c:val>
            <c:numRef>
              <c:f>Sheet1!$B$2:$B$5</c:f>
              <c:numCache>
                <c:formatCode>General</c:formatCode>
                <c:ptCount val="4"/>
                <c:pt idx="0">
                  <c:v>42</c:v>
                </c:pt>
                <c:pt idx="1">
                  <c:v>58</c:v>
                </c:pt>
                <c:pt idx="2">
                  <c:v>67</c:v>
                </c:pt>
                <c:pt idx="3">
                  <c:v>81</c:v>
                </c:pt>
              </c:numCache>
            </c:numRef>
          </c:val>
          <c:spPr>
            <a:solidFill>
              <a:srgbClr val="0066CC"/>
            </a:solidFill>
          </c:spPr>
        </c:ser>
        <c:ser>
          <c:idx val="1"/>
          <c:order val="1"/>
          <c:tx>
            <c:strRef>
              <c:f>Sheet1!$C$1</c:f>
              <c:strCache>
                <c:ptCount val="1"/>
                <c:pt idx="0">
                  <c:v>Service Revenue</c:v>
                </c:pt>
              </c:strCache>
            </c:strRef>
          </c:tx>
          <c:cat>
            <c:strRef>
              <c:f>Sheet1!$A$2:$A$5</c:f>
              <c:strCache>
                <c:ptCount val="4"/>
                <c:pt idx="0">
                  <c:v>Q1</c:v>
                </c:pt>
                <c:pt idx="1">
                  <c:v>Q2</c:v>
                </c:pt>
                <c:pt idx="2">
                  <c:v>Q3</c:v>
                </c:pt>
                <c:pt idx="3">
                  <c:v>Q4</c:v>
                </c:pt>
              </c:strCache>
            </c:strRef>
          </c:cat>
          <c:val>
            <c:numRef>
              <c:f>Sheet1!$C$2:$C$5</c:f>
              <c:numCache>
                <c:formatCode>General</c:formatCode>
                <c:ptCount val="4"/>
                <c:pt idx="0">
                  <c:v>18</c:v>
                </c:pt>
                <c:pt idx="1">
                  <c:v>24</c:v>
                </c:pt>
                <c:pt idx="2">
                  <c:v>31</c:v>
                </c:pt>
                <c:pt idx="3">
                  <c:v>40</c:v>
                </c:pt>
              </c:numCache>
            </c:numRef>
          </c:val>
          <c:spPr>
            <a:solidFill>
              <a:srgbClr val="2997FF"/>
            </a:solidFill>
          </c:spPr>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spPr>
        <a:solidFill>
          <a:srgbClr val="FFFFFF"/>
        </a:solidFill>
      </c:spPr>
    </c:plotArea>
    <c:legend>
      <c:legendPos val="t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Mobile</c:v>
                </c:pt>
              </c:strCache>
            </c:strRef>
          </c:tx>
          <c:marker>
            <c:symbol val="none"/>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12</c:v>
                </c:pt>
                <c:pt idx="1">
                  <c:v>19</c:v>
                </c:pt>
                <c:pt idx="2">
                  <c:v>23</c:v>
                </c:pt>
                <c:pt idx="3">
                  <c:v>31</c:v>
                </c:pt>
                <c:pt idx="4">
                  <c:v>38</c:v>
                </c:pt>
                <c:pt idx="5">
                  <c:v>45</c:v>
                </c:pt>
              </c:numCache>
            </c:numRef>
          </c:val>
          <c:smooth val="0"/>
          <c:spPr>
            <a:ln w="25400">
              <a:solidFill>
                <a:srgbClr val="0066CC"/>
              </a:solidFill>
            </a:ln>
          </c:spPr>
        </c:ser>
        <c:ser>
          <c:idx val="1"/>
          <c:order val="1"/>
          <c:tx>
            <c:strRef>
              <c:f>Sheet1!$C$1</c:f>
              <c:strCache>
                <c:ptCount val="1"/>
                <c:pt idx="0">
                  <c:v>Desktop</c:v>
                </c:pt>
              </c:strCache>
            </c:strRef>
          </c:tx>
          <c:marker>
            <c:symbol val="none"/>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20</c:v>
                </c:pt>
                <c:pt idx="1">
                  <c:v>22</c:v>
                </c:pt>
                <c:pt idx="2">
                  <c:v>25</c:v>
                </c:pt>
                <c:pt idx="3">
                  <c:v>27</c:v>
                </c:pt>
                <c:pt idx="4">
                  <c:v>30</c:v>
                </c:pt>
                <c:pt idx="5">
                  <c:v>34</c:v>
                </c:pt>
              </c:numCache>
            </c:numRef>
          </c:val>
          <c:smooth val="0"/>
          <c:spPr>
            <a:ln w="25400">
              <a:solidFill>
                <a:srgbClr val="0071E3"/>
              </a:solidFill>
            </a:ln>
          </c:spPr>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r"/>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c:v>
                </c:pt>
              </c:strCache>
            </c:strRef>
          </c:tx>
          <c:cat>
            <c:strRef>
              <c:f>Sheet1!$A$2:$A$6</c:f>
              <c:strCache>
                <c:ptCount val="5"/>
                <c:pt idx="0">
                  <c:v>Hardware</c:v>
                </c:pt>
                <c:pt idx="1">
                  <c:v>Software</c:v>
                </c:pt>
                <c:pt idx="2">
                  <c:v>Services</c:v>
                </c:pt>
                <c:pt idx="3">
                  <c:v>Licensing</c:v>
                </c:pt>
                <c:pt idx="4">
                  <c:v>Other</c:v>
                </c:pt>
              </c:strCache>
            </c:strRef>
          </c:cat>
          <c:val>
            <c:numRef>
              <c:f>Sheet1!$B$2:$B$6</c:f>
              <c:numCache>
                <c:formatCode>General</c:formatCode>
                <c:ptCount val="5"/>
                <c:pt idx="0">
                  <c:v>35</c:v>
                </c:pt>
                <c:pt idx="1">
                  <c:v>25</c:v>
                </c:pt>
                <c:pt idx="2">
                  <c:v>20</c:v>
                </c:pt>
                <c:pt idx="3">
                  <c:v>12</c:v>
                </c:pt>
                <c:pt idx="4">
                  <c:v>8</c:v>
                </c:pt>
              </c:numCache>
            </c:numRef>
          </c:val>
          <c:spPr>
            <a:solidFill>
              <a:srgbClr val="0066CC"/>
            </a:solidFill>
            <a:solidFill>
              <a:srgbClr val="2997FF"/>
            </a:solidFill>
            <a:solidFill>
              <a:srgbClr val="0071E3"/>
            </a:solidFill>
            <a:solidFill>
              <a:srgbClr val="CCCCCC"/>
            </a:solidFill>
            <a:solidFill>
              <a:srgbClr val="F5F5F7"/>
            </a:solidFill>
          </c:spPr>
        </c:ser>
      </c:pieChart>
    </c:plotArea>
    <c:legend>
      <c:legendPos val="t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60152" cy="1097280"/>
          </a:xfrm>
          <a:prstGeom prst="rect">
            <a:avLst/>
          </a:prstGeom>
          <a:noFill/>
        </p:spPr>
        <p:txBody>
          <a:bodyPr wrap="square">
            <a:spAutoFit/>
          </a:bodyPr>
          <a:lstStyle/>
          <a:p>
            <a:pPr algn="ctr"/>
            <a:r>
              <a:rPr sz="4000" b="1">
                <a:solidFill>
                  <a:srgbClr val="1D1D1F"/>
                </a:solidFill>
                <a:latin typeface="Calibri"/>
              </a:rPr>
              <a:t>Introducing the Future of Design</a:t>
            </a:r>
          </a:p>
        </p:txBody>
      </p:sp>
      <p:sp>
        <p:nvSpPr>
          <p:cNvPr id="3" name="TextBox 2"/>
          <p:cNvSpPr txBox="1"/>
          <p:nvPr/>
        </p:nvSpPr>
        <p:spPr>
          <a:xfrm>
            <a:off x="1371600" y="2834640"/>
            <a:ext cx="9445752" cy="731520"/>
          </a:xfrm>
          <a:prstGeom prst="rect">
            <a:avLst/>
          </a:prstGeom>
          <a:noFill/>
        </p:spPr>
        <p:txBody>
          <a:bodyPr wrap="square">
            <a:spAutoFit/>
          </a:bodyPr>
          <a:lstStyle/>
          <a:p>
            <a:pPr algn="ctr"/>
            <a:r>
              <a:rPr sz="2000" b="0">
                <a:solidFill>
                  <a:srgbClr val="1D1D1F"/>
                </a:solidFill>
                <a:latin typeface="Calibri"/>
              </a:rPr>
              <a:t>A comprehensive design language built for clarity, depth, and human connection.</a:t>
            </a:r>
          </a:p>
        </p:txBody>
      </p:sp>
      <p:sp>
        <p:nvSpPr>
          <p:cNvPr id="4" name="Rounded Rectangle 3"/>
          <p:cNvSpPr/>
          <p:nvPr/>
        </p:nvSpPr>
        <p:spPr>
          <a:xfrm>
            <a:off x="3904487" y="4855464"/>
            <a:ext cx="1645920" cy="347472"/>
          </a:xfrm>
          <a:prstGeom prst="roundRect">
            <a:avLst>
              <a:gd name="adj" fmla="val 50000"/>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Learn More</a:t>
            </a:r>
          </a:p>
        </p:txBody>
      </p:sp>
      <p:sp>
        <p:nvSpPr>
          <p:cNvPr id="5" name="Rounded Rectangle 4"/>
          <p:cNvSpPr/>
          <p:nvPr/>
        </p:nvSpPr>
        <p:spPr>
          <a:xfrm>
            <a:off x="6638544" y="4855464"/>
            <a:ext cx="1645920" cy="347472"/>
          </a:xfrm>
          <a:prstGeom prst="roundRect">
            <a:avLst>
              <a:gd name="adj" fmla="val 50000"/>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Get Started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72729"/>
        </a:solidFill>
        <a:effectLst/>
      </p:bgPr>
    </p:bg>
    <p:spTree>
      <p:nvGrpSpPr>
        <p:cNvPr id="1" name=""/>
        <p:cNvGrpSpPr/>
        <p:nvPr/>
      </p:nvGrpSpPr>
      <p:grpSpPr/>
      <p:sp>
        <p:nvSpPr>
          <p:cNvPr id="2" name="TextBox 1"/>
          <p:cNvSpPr txBox="1"/>
          <p:nvPr/>
        </p:nvSpPr>
        <p:spPr>
          <a:xfrm>
            <a:off x="914400" y="1828800"/>
            <a:ext cx="10360152" cy="1097280"/>
          </a:xfrm>
          <a:prstGeom prst="rect">
            <a:avLst/>
          </a:prstGeom>
          <a:noFill/>
        </p:spPr>
        <p:txBody>
          <a:bodyPr wrap="square">
            <a:spAutoFit/>
          </a:bodyPr>
          <a:lstStyle/>
          <a:p>
            <a:pPr algn="ctr"/>
            <a:r>
              <a:rPr sz="4000" b="1">
                <a:solidFill>
                  <a:srgbClr val="FFFFFF"/>
                </a:solidFill>
                <a:latin typeface="Calibri"/>
              </a:rPr>
              <a:t>Designed for Everyone</a:t>
            </a:r>
          </a:p>
        </p:txBody>
      </p:sp>
      <p:sp>
        <p:nvSpPr>
          <p:cNvPr id="3" name="TextBox 2"/>
          <p:cNvSpPr txBox="1"/>
          <p:nvPr/>
        </p:nvSpPr>
        <p:spPr>
          <a:xfrm>
            <a:off x="1371600" y="3017520"/>
            <a:ext cx="9445752" cy="731520"/>
          </a:xfrm>
          <a:prstGeom prst="rect">
            <a:avLst/>
          </a:prstGeom>
          <a:noFill/>
        </p:spPr>
        <p:txBody>
          <a:bodyPr wrap="square">
            <a:spAutoFit/>
          </a:bodyPr>
          <a:lstStyle/>
          <a:p>
            <a:pPr algn="ctr"/>
            <a:r>
              <a:rPr sz="2000" b="0">
                <a:solidFill>
                  <a:srgbClr val="CCCCCC"/>
                </a:solidFill>
                <a:latin typeface="Calibri"/>
              </a:rPr>
              <a:t>Elegant, intentional, and built to last.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72729"/>
        </a:solidFill>
        <a:effectLst/>
      </p:bgPr>
    </p:bg>
    <p:spTree>
      <p:nvGrpSpPr>
        <p:cNvPr id="1" name=""/>
        <p:cNvGrpSpPr/>
        <p:nvPr/>
      </p:nvGrpSpPr>
      <p:grpSpPr/>
      <p:sp>
        <p:nvSpPr>
          <p:cNvPr id="2" name="TextBox 1"/>
          <p:cNvSpPr txBox="1"/>
          <p:nvPr/>
        </p:nvSpPr>
        <p:spPr>
          <a:xfrm>
            <a:off x="640080" y="1280160"/>
            <a:ext cx="2743200" cy="1097280"/>
          </a:xfrm>
          <a:prstGeom prst="rect">
            <a:avLst/>
          </a:prstGeom>
          <a:noFill/>
        </p:spPr>
        <p:txBody>
          <a:bodyPr wrap="square">
            <a:spAutoFit/>
          </a:bodyPr>
          <a:lstStyle/>
          <a:p>
            <a:pPr algn="l"/>
            <a:r>
              <a:rPr sz="5600" b="1">
                <a:solidFill>
                  <a:srgbClr val="0066CC"/>
                </a:solidFill>
                <a:latin typeface="Calibri"/>
              </a:rPr>
              <a:t>01</a:t>
            </a:r>
          </a:p>
        </p:txBody>
      </p:sp>
      <p:sp>
        <p:nvSpPr>
          <p:cNvPr id="3" name="TextBox 2"/>
          <p:cNvSpPr txBox="1"/>
          <p:nvPr/>
        </p:nvSpPr>
        <p:spPr>
          <a:xfrm>
            <a:off x="640080" y="2468880"/>
            <a:ext cx="7315200" cy="914400"/>
          </a:xfrm>
          <a:prstGeom prst="rect">
            <a:avLst/>
          </a:prstGeom>
          <a:noFill/>
        </p:spPr>
        <p:txBody>
          <a:bodyPr wrap="square">
            <a:spAutoFit/>
          </a:bodyPr>
          <a:lstStyle/>
          <a:p>
            <a:pPr algn="l"/>
            <a:r>
              <a:rPr sz="2800" b="1">
                <a:solidFill>
                  <a:srgbClr val="FFFFFF"/>
                </a:solidFill>
                <a:latin typeface="Calibri"/>
              </a:rPr>
              <a:t>Design Foundations</a:t>
            </a:r>
          </a:p>
        </p:txBody>
      </p:sp>
      <p:sp>
        <p:nvSpPr>
          <p:cNvPr id="4" name="TextBox 3"/>
          <p:cNvSpPr txBox="1"/>
          <p:nvPr/>
        </p:nvSpPr>
        <p:spPr>
          <a:xfrm>
            <a:off x="640080" y="3383280"/>
            <a:ext cx="7315200" cy="640080"/>
          </a:xfrm>
          <a:prstGeom prst="rect">
            <a:avLst/>
          </a:prstGeom>
          <a:noFill/>
        </p:spPr>
        <p:txBody>
          <a:bodyPr wrap="square">
            <a:spAutoFit/>
          </a:bodyPr>
          <a:lstStyle/>
          <a:p>
            <a:pPr algn="l"/>
            <a:r>
              <a:rPr sz="1500" b="0">
                <a:solidFill>
                  <a:srgbClr val="CCCCCC"/>
                </a:solidFill>
                <a:latin typeface="Calibri"/>
              </a:rPr>
              <a:t>Principles that guide every pixel and every interaction.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548640" y="822960"/>
            <a:ext cx="6766560" cy="731520"/>
          </a:xfrm>
          <a:prstGeom prst="rect">
            <a:avLst/>
          </a:prstGeom>
          <a:noFill/>
        </p:spPr>
        <p:txBody>
          <a:bodyPr wrap="square">
            <a:spAutoFit/>
          </a:bodyPr>
          <a:lstStyle/>
          <a:p>
            <a:pPr algn="l"/>
            <a:r>
              <a:rPr sz="2400" b="1">
                <a:solidFill>
                  <a:srgbClr val="1D1D1F"/>
                </a:solidFill>
                <a:latin typeface="Calibri"/>
              </a:rPr>
              <a:t>Clarity Above All Else</a:t>
            </a:r>
          </a:p>
        </p:txBody>
      </p:sp>
      <p:sp>
        <p:nvSpPr>
          <p:cNvPr id="3" name="TextBox 2"/>
          <p:cNvSpPr txBox="1"/>
          <p:nvPr/>
        </p:nvSpPr>
        <p:spPr>
          <a:xfrm>
            <a:off x="548640" y="1691640"/>
            <a:ext cx="6583680" cy="4114800"/>
          </a:xfrm>
          <a:prstGeom prst="rect">
            <a:avLst/>
          </a:prstGeom>
          <a:noFill/>
        </p:spPr>
        <p:txBody>
          <a:bodyPr wrap="square">
            <a:spAutoFit/>
          </a:bodyPr>
          <a:lstStyle/>
          <a:p>
            <a:pPr algn="l"/>
            <a:r>
              <a:rPr sz="1200" b="0">
                <a:solidFill>
                  <a:srgbClr val="1D1D1F"/>
                </a:solidFill>
                <a:latin typeface="Calibri"/>
              </a:rPr>
              <a:t>Every element on screen earns its place. Negative space breathes life into layouts, while careful typographic hierarchy guides the eye naturally from headline to supporting detail.
Consistent colour application reinforces meaning—blue for action, white for openness, dark tiles for focus—so users always know where they are and what they can do next.</a:t>
            </a:r>
          </a:p>
        </p:txBody>
      </p:sp>
      <p:sp>
        <p:nvSpPr>
          <p:cNvPr id="4" name="Rounded Rectangle 3"/>
          <p:cNvSpPr/>
          <p:nvPr/>
        </p:nvSpPr>
        <p:spPr>
          <a:xfrm>
            <a:off x="7589520" y="640080"/>
            <a:ext cx="4023360" cy="5394960"/>
          </a:xfrm>
          <a:prstGeom prst="roundRect">
            <a:avLst>
              <a:gd name="adj" fmla="val 5000"/>
            </a:avLst>
          </a:prstGeom>
          <a:solidFill>
            <a:srgbClr val="E0E0E0"/>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0" y="3017520"/>
            <a:ext cx="4023360" cy="457200"/>
          </a:xfrm>
          <a:prstGeom prst="rect">
            <a:avLst/>
          </a:prstGeom>
          <a:noFill/>
        </p:spPr>
        <p:txBody>
          <a:bodyPr wrap="square">
            <a:spAutoFit/>
          </a:bodyPr>
          <a:lstStyle/>
          <a:p>
            <a:pPr algn="ctr"/>
            <a:r>
              <a:rPr sz="1000" b="0">
                <a:solidFill>
                  <a:srgbClr val="999999"/>
                </a:solidFill>
                <a:latin typeface="Calibri"/>
              </a:rPr>
              <a:t>Image / Media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08792" cy="731520"/>
          </a:xfrm>
          <a:prstGeom prst="rect">
            <a:avLst/>
          </a:prstGeom>
          <a:noFill/>
        </p:spPr>
        <p:txBody>
          <a:bodyPr wrap="square">
            <a:spAutoFit/>
          </a:bodyPr>
          <a:lstStyle/>
          <a:p>
            <a:pPr algn="l"/>
            <a:r>
              <a:rPr sz="2400" b="1">
                <a:solidFill>
                  <a:srgbClr val="1D1D1F"/>
                </a:solidFill>
                <a:latin typeface="Calibri"/>
              </a:rPr>
              <a:t>Key Principles</a:t>
            </a:r>
          </a:p>
        </p:txBody>
      </p:sp>
      <p:sp>
        <p:nvSpPr>
          <p:cNvPr id="3" name="Rectangle 2"/>
          <p:cNvSpPr/>
          <p:nvPr/>
        </p:nvSpPr>
        <p:spPr>
          <a:xfrm>
            <a:off x="640080" y="1234440"/>
            <a:ext cx="10908792"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490472"/>
            <a:ext cx="109728"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607040" cy="777240"/>
          </a:xfrm>
          <a:prstGeom prst="rect">
            <a:avLst/>
          </a:prstGeom>
          <a:noFill/>
        </p:spPr>
        <p:txBody>
          <a:bodyPr wrap="square">
            <a:spAutoFit/>
          </a:bodyPr>
          <a:lstStyle/>
          <a:p>
            <a:pPr algn="l"/>
            <a:r>
              <a:rPr sz="1200" b="0">
                <a:solidFill>
                  <a:srgbClr val="1D1D1F"/>
                </a:solidFill>
                <a:latin typeface="Calibri"/>
              </a:rPr>
              <a:t>Hierarchy — every element has a clear visual rank that guides the reader effortlessly.</a:t>
            </a:r>
          </a:p>
        </p:txBody>
      </p:sp>
      <p:sp>
        <p:nvSpPr>
          <p:cNvPr id="6" name="Rectangle 5"/>
          <p:cNvSpPr/>
          <p:nvPr/>
        </p:nvSpPr>
        <p:spPr>
          <a:xfrm>
            <a:off x="658368" y="2404872"/>
            <a:ext cx="109728"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31720"/>
            <a:ext cx="10607040" cy="777240"/>
          </a:xfrm>
          <a:prstGeom prst="rect">
            <a:avLst/>
          </a:prstGeom>
          <a:noFill/>
        </p:spPr>
        <p:txBody>
          <a:bodyPr wrap="square">
            <a:spAutoFit/>
          </a:bodyPr>
          <a:lstStyle/>
          <a:p>
            <a:pPr algn="l"/>
            <a:r>
              <a:rPr sz="1200" b="0">
                <a:solidFill>
                  <a:srgbClr val="1D1D1F"/>
                </a:solidFill>
                <a:latin typeface="Calibri"/>
              </a:rPr>
              <a:t>Consistency — repeated patterns build familiarity and reduce cognitive load.</a:t>
            </a:r>
          </a:p>
        </p:txBody>
      </p:sp>
      <p:sp>
        <p:nvSpPr>
          <p:cNvPr id="8" name="Rectangle 7"/>
          <p:cNvSpPr/>
          <p:nvPr/>
        </p:nvSpPr>
        <p:spPr>
          <a:xfrm>
            <a:off x="658368" y="3319272"/>
            <a:ext cx="109728"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46120"/>
            <a:ext cx="10607040" cy="777240"/>
          </a:xfrm>
          <a:prstGeom prst="rect">
            <a:avLst/>
          </a:prstGeom>
          <a:noFill/>
        </p:spPr>
        <p:txBody>
          <a:bodyPr wrap="square">
            <a:spAutoFit/>
          </a:bodyPr>
          <a:lstStyle/>
          <a:p>
            <a:pPr algn="l"/>
            <a:r>
              <a:rPr sz="1200" b="0">
                <a:solidFill>
                  <a:srgbClr val="1D1D1F"/>
                </a:solidFill>
                <a:latin typeface="Calibri"/>
              </a:rPr>
              <a:t>Accessibility — minimum 4.5 : 1 contrast ratios ensure legibility for all users.</a:t>
            </a:r>
          </a:p>
        </p:txBody>
      </p:sp>
      <p:sp>
        <p:nvSpPr>
          <p:cNvPr id="10" name="Rectangle 9"/>
          <p:cNvSpPr/>
          <p:nvPr/>
        </p:nvSpPr>
        <p:spPr>
          <a:xfrm>
            <a:off x="658368" y="4233672"/>
            <a:ext cx="109728"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10607040" cy="777240"/>
          </a:xfrm>
          <a:prstGeom prst="rect">
            <a:avLst/>
          </a:prstGeom>
          <a:noFill/>
        </p:spPr>
        <p:txBody>
          <a:bodyPr wrap="square">
            <a:spAutoFit/>
          </a:bodyPr>
          <a:lstStyle/>
          <a:p>
            <a:pPr algn="l"/>
            <a:r>
              <a:rPr sz="1200" b="0">
                <a:solidFill>
                  <a:srgbClr val="1D1D1F"/>
                </a:solidFill>
                <a:latin typeface="Calibri"/>
              </a:rPr>
              <a:t>Purposeful Motion — animations clarify state changes rather than decorate them.</a:t>
            </a:r>
          </a:p>
        </p:txBody>
      </p:sp>
      <p:sp>
        <p:nvSpPr>
          <p:cNvPr id="12" name="Rectangle 11"/>
          <p:cNvSpPr/>
          <p:nvPr/>
        </p:nvSpPr>
        <p:spPr>
          <a:xfrm>
            <a:off x="658368" y="5148072"/>
            <a:ext cx="109728"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74920"/>
            <a:ext cx="10607040" cy="777240"/>
          </a:xfrm>
          <a:prstGeom prst="rect">
            <a:avLst/>
          </a:prstGeom>
          <a:noFill/>
        </p:spPr>
        <p:txBody>
          <a:bodyPr wrap="square">
            <a:spAutoFit/>
          </a:bodyPr>
          <a:lstStyle/>
          <a:p>
            <a:pPr algn="l"/>
            <a:r>
              <a:rPr sz="1200" b="0">
                <a:solidFill>
                  <a:srgbClr val="1D1D1F"/>
                </a:solidFill>
                <a:latin typeface="Calibri"/>
              </a:rPr>
              <a:t>Economy — restraint in colour, type, and decoration lets content take centre stage.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548640" y="274320"/>
            <a:ext cx="11091672" cy="640080"/>
          </a:xfrm>
          <a:prstGeom prst="rect">
            <a:avLst/>
          </a:prstGeom>
          <a:noFill/>
        </p:spPr>
        <p:txBody>
          <a:bodyPr wrap="square">
            <a:spAutoFit/>
          </a:bodyPr>
          <a:lstStyle/>
          <a:p>
            <a:pPr algn="l"/>
            <a:r>
              <a:rPr sz="2400" b="1">
                <a:solidFill>
                  <a:srgbClr val="1D1D1F"/>
                </a:solidFill>
                <a:latin typeface="Calibri"/>
              </a:rPr>
              <a:t>Quarterly Performance</a:t>
            </a:r>
          </a:p>
        </p:txBody>
      </p:sp>
      <p:graphicFrame>
        <p:nvGraphicFramePr>
          <p:cNvPr id="3" name="Chart 2"/>
          <p:cNvGraphicFramePr>
            <a:graphicFrameLocks noGrp="1"/>
          </p:cNvGraphicFramePr>
          <p:nvPr/>
        </p:nvGraphicFramePr>
        <p:xfrm>
          <a:off x="548640" y="1097280"/>
          <a:ext cx="11091672"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91672" cy="640080"/>
          </a:xfrm>
          <a:prstGeom prst="rect">
            <a:avLst/>
          </a:prstGeom>
          <a:noFill/>
        </p:spPr>
        <p:txBody>
          <a:bodyPr wrap="square">
            <a:spAutoFit/>
          </a:bodyPr>
          <a:lstStyle/>
          <a:p>
            <a:pPr algn="l"/>
            <a:r>
              <a:rPr sz="2400" b="1">
                <a:solidFill>
                  <a:srgbClr val="1D1D1F"/>
                </a:solidFill>
                <a:latin typeface="Calibri"/>
              </a:rPr>
              <a:t>Monthly Active Users</a:t>
            </a:r>
          </a:p>
        </p:txBody>
      </p:sp>
      <p:graphicFrame>
        <p:nvGraphicFramePr>
          <p:cNvPr id="3" name="Chart 2"/>
          <p:cNvGraphicFramePr>
            <a:graphicFrameLocks noGrp="1"/>
          </p:cNvGraphicFramePr>
          <p:nvPr/>
        </p:nvGraphicFramePr>
        <p:xfrm>
          <a:off x="548640" y="1097280"/>
          <a:ext cx="11091672"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72729"/>
        </a:solidFill>
        <a:effectLst/>
      </p:bgPr>
    </p:bg>
    <p:spTree>
      <p:nvGrpSpPr>
        <p:cNvPr id="1" name=""/>
        <p:cNvGrpSpPr/>
        <p:nvPr/>
      </p:nvGrpSpPr>
      <p:grpSpPr/>
      <p:sp>
        <p:nvSpPr>
          <p:cNvPr id="2" name="TextBox 1"/>
          <p:cNvSpPr txBox="1"/>
          <p:nvPr/>
        </p:nvSpPr>
        <p:spPr>
          <a:xfrm>
            <a:off x="548640" y="274320"/>
            <a:ext cx="11091672" cy="640080"/>
          </a:xfrm>
          <a:prstGeom prst="rect">
            <a:avLst/>
          </a:prstGeom>
          <a:noFill/>
        </p:spPr>
        <p:txBody>
          <a:bodyPr wrap="square">
            <a:spAutoFit/>
          </a:bodyPr>
          <a:lstStyle/>
          <a:p>
            <a:pPr algn="l"/>
            <a:r>
              <a:rPr sz="2400" b="1">
                <a:solidFill>
                  <a:srgbClr val="FFFFFF"/>
                </a:solidFill>
                <a:latin typeface="Calibri"/>
              </a:rPr>
              <a:t>Revenue by Segment</a:t>
            </a:r>
          </a:p>
        </p:txBody>
      </p:sp>
      <p:graphicFrame>
        <p:nvGraphicFramePr>
          <p:cNvPr id="3" name="Chart 2"/>
          <p:cNvGraphicFramePr>
            <a:graphicFrameLocks noGrp="1"/>
          </p:cNvGraphicFramePr>
          <p:nvPr/>
        </p:nvGraphicFramePr>
        <p:xfrm>
          <a:off x="1371600" y="1097280"/>
          <a:ext cx="9445752"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91672" cy="640080"/>
          </a:xfrm>
          <a:prstGeom prst="rect">
            <a:avLst/>
          </a:prstGeom>
          <a:noFill/>
        </p:spPr>
        <p:txBody>
          <a:bodyPr wrap="square">
            <a:spAutoFit/>
          </a:bodyPr>
          <a:lstStyle/>
          <a:p>
            <a:pPr algn="l"/>
            <a:r>
              <a:rPr sz="2400" b="1">
                <a:solidFill>
                  <a:srgbClr val="1D1D1F"/>
                </a:solidFill>
                <a:latin typeface="Calibri"/>
              </a:rPr>
              <a:t>Product Comparison</a:t>
            </a:r>
          </a:p>
        </p:txBody>
      </p:sp>
      <p:graphicFrame>
        <p:nvGraphicFramePr>
          <p:cNvPr id="3" name="Table 2"/>
          <p:cNvGraphicFramePr>
            <a:graphicFrameLocks noGrp="1"/>
          </p:cNvGraphicFramePr>
          <p:nvPr/>
        </p:nvGraphicFramePr>
        <p:xfrm>
          <a:off x="548640" y="1097280"/>
          <a:ext cx="11091672" cy="5029200"/>
        </p:xfrm>
        <a:graphic>
          <a:graphicData uri="http://schemas.openxmlformats.org/drawingml/2006/table">
            <a:tbl>
              <a:tblPr firstRow="1" bandRow="1">
                <a:tableStyleId>{5C22544A-7EE6-4342-B048-85BDC9FD1C3A}</a:tableStyleId>
              </a:tblPr>
              <a:tblGrid>
                <a:gridCol w="2772918"/>
                <a:gridCol w="2772918"/>
                <a:gridCol w="2772918"/>
                <a:gridCol w="2772918"/>
              </a:tblGrid>
              <a:tr h="1005840">
                <a:tc>
                  <a:txBody>
                    <a:bodyPr/>
                    <a:lstStyle/>
                    <a:p>
                      <a:pPr algn="ctr"/>
                      <a:r>
                        <a:rPr sz="1200" b="1">
                          <a:solidFill>
                            <a:srgbClr val="FFFFFF"/>
                          </a:solidFill>
                          <a:latin typeface="Calibri"/>
                        </a:rPr>
                        <a:t>Feature</a:t>
                      </a:r>
                    </a:p>
                  </a:txBody>
                  <a:tcPr>
                    <a:solidFill>
                      <a:srgbClr val="1D1D1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b="1">
                          <a:solidFill>
                            <a:srgbClr val="FFFFFF"/>
                          </a:solidFill>
                          <a:latin typeface="Calibri"/>
                        </a:rPr>
                        <a:t>Starter</a:t>
                      </a:r>
                    </a:p>
                  </a:txBody>
                  <a:tcPr>
                    <a:solidFill>
                      <a:srgbClr val="1D1D1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b="1">
                          <a:solidFill>
                            <a:srgbClr val="FFFFFF"/>
                          </a:solidFill>
                          <a:latin typeface="Calibri"/>
                        </a:rPr>
                        <a:t>Professional</a:t>
                      </a:r>
                    </a:p>
                  </a:txBody>
                  <a:tcPr>
                    <a:solidFill>
                      <a:srgbClr val="1D1D1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b="1">
                          <a:solidFill>
                            <a:srgbClr val="FFFFFF"/>
                          </a:solidFill>
                          <a:latin typeface="Calibri"/>
                        </a:rPr>
                        <a:t>Enterprise</a:t>
                      </a:r>
                    </a:p>
                  </a:txBody>
                  <a:tcPr>
                    <a:solidFill>
                      <a:srgbClr val="1D1D1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r>
              <a:tr h="1005840">
                <a:tc>
                  <a:txBody>
                    <a:bodyPr/>
                    <a:lstStyle/>
                    <a:p>
                      <a:pPr algn="ctr"/>
                      <a:r>
                        <a:rPr sz="1200">
                          <a:solidFill>
                            <a:srgbClr val="1D1D1F"/>
                          </a:solidFill>
                          <a:latin typeface="Calibri"/>
                        </a:rPr>
                        <a:t>Storage</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10 GB</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100 GB</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Unlimited</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r>
              <a:tr h="1005840">
                <a:tc>
                  <a:txBody>
                    <a:bodyPr/>
                    <a:lstStyle/>
                    <a:p>
                      <a:pPr algn="ctr"/>
                      <a:r>
                        <a:rPr sz="1200">
                          <a:solidFill>
                            <a:srgbClr val="1D1D1F"/>
                          </a:solidFill>
                          <a:latin typeface="Calibri"/>
                        </a:rPr>
                        <a:t>Users</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1</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10</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Unlimited</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r>
              <a:tr h="1005840">
                <a:tc>
                  <a:txBody>
                    <a:bodyPr/>
                    <a:lstStyle/>
                    <a:p>
                      <a:pPr algn="ctr"/>
                      <a:r>
                        <a:rPr sz="1200">
                          <a:solidFill>
                            <a:srgbClr val="1D1D1F"/>
                          </a:solidFill>
                          <a:latin typeface="Calibri"/>
                        </a:rPr>
                        <a:t>Support</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Email</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Priority</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Dedicated</a:t>
                      </a:r>
                    </a:p>
                  </a:txBody>
                  <a:tcPr>
                    <a:solidFill>
                      <a:srgbClr val="FFFFFF"/>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r>
              <a:tr h="1005840">
                <a:tc>
                  <a:txBody>
                    <a:bodyPr/>
                    <a:lstStyle/>
                    <a:p>
                      <a:pPr algn="ctr"/>
                      <a:r>
                        <a:rPr sz="1200">
                          <a:solidFill>
                            <a:srgbClr val="1D1D1F"/>
                          </a:solidFill>
                          <a:latin typeface="Calibri"/>
                        </a:rPr>
                        <a:t>API Access</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Limited</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Full</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c>
                  <a:txBody>
                    <a:bodyPr/>
                    <a:lstStyle/>
                    <a:p>
                      <a:pPr algn="ctr"/>
                      <a:r>
                        <a:rPr sz="1200">
                          <a:solidFill>
                            <a:srgbClr val="1D1D1F"/>
                          </a:solidFill>
                          <a:latin typeface="Calibri"/>
                        </a:rPr>
                        <a:t>Full + SLA</a:t>
                      </a:r>
                    </a:p>
                  </a:txBody>
                  <a:tcPr>
                    <a:solidFill>
                      <a:srgbClr val="F5F5F7"/>
                    </a:solidFill>
                    <a:lnL w="6350" cap="flat" cmpd="sng">
                      <a:solidFill>
                        <a:srgbClr val="E0E0E0"/>
                      </a:solidFill>
                    </a:lnL>
                    <a:lnR w="6350" cap="flat" cmpd="sng">
                      <a:solidFill>
                        <a:srgbClr val="E0E0E0"/>
                      </a:solidFill>
                    </a:lnR>
                    <a:lnT w="6350" cap="flat" cmpd="sng">
                      <a:solidFill>
                        <a:srgbClr val="E0E0E0"/>
                      </a:solidFill>
                    </a:lnT>
                    <a:lnB w="6350" cap="flat" cmpd="sng">
                      <a:solidFill>
                        <a:srgbClr val="E0E0E0"/>
                      </a:solidFill>
                    </a:lnB>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72729"/>
        </a:solidFill>
        <a:effectLst/>
      </p:bgPr>
    </p:bg>
    <p:spTree>
      <p:nvGrpSpPr>
        <p:cNvPr id="1" name=""/>
        <p:cNvGrpSpPr/>
        <p:nvPr/>
      </p:nvGrpSpPr>
      <p:grpSpPr/>
      <p:sp>
        <p:nvSpPr>
          <p:cNvPr id="2" name="TextBox 1"/>
          <p:cNvSpPr txBox="1"/>
          <p:nvPr/>
        </p:nvSpPr>
        <p:spPr>
          <a:xfrm>
            <a:off x="457200" y="274320"/>
            <a:ext cx="2743200" cy="1371600"/>
          </a:xfrm>
          <a:prstGeom prst="rect">
            <a:avLst/>
          </a:prstGeom>
          <a:noFill/>
        </p:spPr>
        <p:txBody>
          <a:bodyPr wrap="square">
            <a:spAutoFit/>
          </a:bodyPr>
          <a:lstStyle/>
          <a:p>
            <a:pPr algn="l"/>
            <a:r>
              <a:rPr sz="7200" b="0">
                <a:solidFill>
                  <a:srgbClr val="0066CC"/>
                </a:solidFill>
                <a:latin typeface="Calibri"/>
              </a:rPr>
              <a:t>❝</a:t>
            </a:r>
          </a:p>
        </p:txBody>
      </p:sp>
      <p:sp>
        <p:nvSpPr>
          <p:cNvPr id="3" name="TextBox 2"/>
          <p:cNvSpPr txBox="1"/>
          <p:nvPr/>
        </p:nvSpPr>
        <p:spPr>
          <a:xfrm>
            <a:off x="914400" y="1645920"/>
            <a:ext cx="10360152" cy="1828800"/>
          </a:xfrm>
          <a:prstGeom prst="rect">
            <a:avLst/>
          </a:prstGeom>
          <a:noFill/>
        </p:spPr>
        <p:txBody>
          <a:bodyPr wrap="square">
            <a:spAutoFit/>
          </a:bodyPr>
          <a:lstStyle/>
          <a:p>
            <a:pPr algn="ctr"/>
            <a:r>
              <a:rPr sz="2400" b="0">
                <a:solidFill>
                  <a:srgbClr val="FFFFFF"/>
                </a:solidFill>
                <a:latin typeface="Calibri"/>
              </a:rPr>
              <a:t>Design is not just what it looks like and feels like.
Design is how it works.</a:t>
            </a:r>
          </a:p>
        </p:txBody>
      </p:sp>
      <p:sp>
        <p:nvSpPr>
          <p:cNvPr id="4" name="TextBox 3"/>
          <p:cNvSpPr txBox="1"/>
          <p:nvPr/>
        </p:nvSpPr>
        <p:spPr>
          <a:xfrm>
            <a:off x="914400" y="3566160"/>
            <a:ext cx="10360152" cy="548640"/>
          </a:xfrm>
          <a:prstGeom prst="rect">
            <a:avLst/>
          </a:prstGeom>
          <a:noFill/>
        </p:spPr>
        <p:txBody>
          <a:bodyPr wrap="square">
            <a:spAutoFit/>
          </a:bodyPr>
          <a:lstStyle/>
          <a:p>
            <a:pPr algn="ctr"/>
            <a:r>
              <a:rPr sz="1400" b="0">
                <a:solidFill>
                  <a:srgbClr val="CCCCCC"/>
                </a:solidFill>
                <a:latin typeface="Calibri"/>
              </a:rPr>
              <a:t>— Steve Jobs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2400" b="1">
                <a:solidFill>
                  <a:srgbClr val="1D1D1F"/>
                </a:solidFill>
                <a:latin typeface="Calibri"/>
              </a:rPr>
              <a:t>Light vs. Dark Experience</a:t>
            </a:r>
          </a:p>
        </p:txBody>
      </p:sp>
      <p:sp>
        <p:nvSpPr>
          <p:cNvPr id="3" name="Rectangle 2"/>
          <p:cNvSpPr/>
          <p:nvPr/>
        </p:nvSpPr>
        <p:spPr>
          <a:xfrm>
            <a:off x="457200" y="1097280"/>
            <a:ext cx="5568696" cy="530352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25880"/>
            <a:ext cx="5202936" cy="457200"/>
          </a:xfrm>
          <a:prstGeom prst="rect">
            <a:avLst/>
          </a:prstGeom>
          <a:noFill/>
        </p:spPr>
        <p:txBody>
          <a:bodyPr wrap="square">
            <a:spAutoFit/>
          </a:bodyPr>
          <a:lstStyle/>
          <a:p>
            <a:pPr algn="l"/>
            <a:r>
              <a:rPr sz="1500" b="1">
                <a:solidFill>
                  <a:srgbClr val="1D1D1F"/>
                </a:solidFill>
                <a:latin typeface="Calibri"/>
              </a:rPr>
              <a:t>Light Mode</a:t>
            </a:r>
          </a:p>
        </p:txBody>
      </p:sp>
      <p:sp>
        <p:nvSpPr>
          <p:cNvPr id="5" name="TextBox 4"/>
          <p:cNvSpPr txBox="1"/>
          <p:nvPr/>
        </p:nvSpPr>
        <p:spPr>
          <a:xfrm>
            <a:off x="640080" y="1965960"/>
            <a:ext cx="5202936" cy="685800"/>
          </a:xfrm>
          <a:prstGeom prst="rect">
            <a:avLst/>
          </a:prstGeom>
          <a:noFill/>
        </p:spPr>
        <p:txBody>
          <a:bodyPr wrap="square">
            <a:spAutoFit/>
          </a:bodyPr>
          <a:lstStyle/>
          <a:p>
            <a:pPr algn="l"/>
            <a:r>
              <a:rPr sz="1200" b="0">
                <a:solidFill>
                  <a:srgbClr val="1D1D1F"/>
                </a:solidFill>
                <a:latin typeface="Calibri"/>
              </a:rPr>
              <a:t>• Optimised for bright, natural environments</a:t>
            </a:r>
          </a:p>
        </p:txBody>
      </p:sp>
      <p:sp>
        <p:nvSpPr>
          <p:cNvPr id="6" name="TextBox 5"/>
          <p:cNvSpPr txBox="1"/>
          <p:nvPr/>
        </p:nvSpPr>
        <p:spPr>
          <a:xfrm>
            <a:off x="640080" y="2743200"/>
            <a:ext cx="5202936" cy="685800"/>
          </a:xfrm>
          <a:prstGeom prst="rect">
            <a:avLst/>
          </a:prstGeom>
          <a:noFill/>
        </p:spPr>
        <p:txBody>
          <a:bodyPr wrap="square">
            <a:spAutoFit/>
          </a:bodyPr>
          <a:lstStyle/>
          <a:p>
            <a:pPr algn="l"/>
            <a:r>
              <a:rPr sz="1200" b="0">
                <a:solidFill>
                  <a:srgbClr val="1D1D1F"/>
                </a:solidFill>
                <a:latin typeface="Calibri"/>
              </a:rPr>
              <a:t>• High-contrast text on white backgrounds</a:t>
            </a:r>
          </a:p>
        </p:txBody>
      </p:sp>
      <p:sp>
        <p:nvSpPr>
          <p:cNvPr id="7" name="TextBox 6"/>
          <p:cNvSpPr txBox="1"/>
          <p:nvPr/>
        </p:nvSpPr>
        <p:spPr>
          <a:xfrm>
            <a:off x="640080" y="3520439"/>
            <a:ext cx="5202936" cy="685800"/>
          </a:xfrm>
          <a:prstGeom prst="rect">
            <a:avLst/>
          </a:prstGeom>
          <a:noFill/>
        </p:spPr>
        <p:txBody>
          <a:bodyPr wrap="square">
            <a:spAutoFit/>
          </a:bodyPr>
          <a:lstStyle/>
          <a:p>
            <a:pPr algn="l"/>
            <a:r>
              <a:rPr sz="1200" b="0">
                <a:solidFill>
                  <a:srgbClr val="1D1D1F"/>
                </a:solidFill>
                <a:latin typeface="Calibri"/>
              </a:rPr>
              <a:t>• Ideal for document and reading tasks</a:t>
            </a:r>
          </a:p>
        </p:txBody>
      </p:sp>
      <p:sp>
        <p:nvSpPr>
          <p:cNvPr id="8" name="Rectangle 7"/>
          <p:cNvSpPr/>
          <p:nvPr/>
        </p:nvSpPr>
        <p:spPr>
          <a:xfrm>
            <a:off x="6163056" y="1097280"/>
            <a:ext cx="5568696" cy="5303520"/>
          </a:xfrm>
          <a:prstGeom prst="rect">
            <a:avLst/>
          </a:prstGeom>
          <a:solidFill>
            <a:srgbClr val="272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5936" y="1325880"/>
            <a:ext cx="5202936" cy="457200"/>
          </a:xfrm>
          <a:prstGeom prst="rect">
            <a:avLst/>
          </a:prstGeom>
          <a:noFill/>
        </p:spPr>
        <p:txBody>
          <a:bodyPr wrap="square">
            <a:spAutoFit/>
          </a:bodyPr>
          <a:lstStyle/>
          <a:p>
            <a:pPr algn="l"/>
            <a:r>
              <a:rPr sz="1500" b="1">
                <a:solidFill>
                  <a:srgbClr val="FFFFFF"/>
                </a:solidFill>
                <a:latin typeface="Calibri"/>
              </a:rPr>
              <a:t>Dark Mode</a:t>
            </a:r>
          </a:p>
        </p:txBody>
      </p:sp>
      <p:sp>
        <p:nvSpPr>
          <p:cNvPr id="10" name="TextBox 9"/>
          <p:cNvSpPr txBox="1"/>
          <p:nvPr/>
        </p:nvSpPr>
        <p:spPr>
          <a:xfrm>
            <a:off x="6345936" y="1965960"/>
            <a:ext cx="5202936" cy="685800"/>
          </a:xfrm>
          <a:prstGeom prst="rect">
            <a:avLst/>
          </a:prstGeom>
          <a:noFill/>
        </p:spPr>
        <p:txBody>
          <a:bodyPr wrap="square">
            <a:spAutoFit/>
          </a:bodyPr>
          <a:lstStyle/>
          <a:p>
            <a:pPr algn="l"/>
            <a:r>
              <a:rPr sz="1200" b="0">
                <a:solidFill>
                  <a:srgbClr val="FFFFFF"/>
                </a:solidFill>
                <a:latin typeface="Calibri"/>
              </a:rPr>
              <a:t>• Reduces eye strain in low-light settings</a:t>
            </a:r>
          </a:p>
        </p:txBody>
      </p:sp>
      <p:sp>
        <p:nvSpPr>
          <p:cNvPr id="11" name="TextBox 10"/>
          <p:cNvSpPr txBox="1"/>
          <p:nvPr/>
        </p:nvSpPr>
        <p:spPr>
          <a:xfrm>
            <a:off x="6345936" y="2743200"/>
            <a:ext cx="5202936" cy="685800"/>
          </a:xfrm>
          <a:prstGeom prst="rect">
            <a:avLst/>
          </a:prstGeom>
          <a:noFill/>
        </p:spPr>
        <p:txBody>
          <a:bodyPr wrap="square">
            <a:spAutoFit/>
          </a:bodyPr>
          <a:lstStyle/>
          <a:p>
            <a:pPr algn="l"/>
            <a:r>
              <a:rPr sz="1200" b="0">
                <a:solidFill>
                  <a:srgbClr val="FFFFFF"/>
                </a:solidFill>
                <a:latin typeface="Calibri"/>
              </a:rPr>
              <a:t>• Vibrant accent colours pop on dark canvas</a:t>
            </a:r>
          </a:p>
        </p:txBody>
      </p:sp>
      <p:sp>
        <p:nvSpPr>
          <p:cNvPr id="12" name="TextBox 11"/>
          <p:cNvSpPr txBox="1"/>
          <p:nvPr/>
        </p:nvSpPr>
        <p:spPr>
          <a:xfrm>
            <a:off x="6345936" y="3520439"/>
            <a:ext cx="5202936" cy="685800"/>
          </a:xfrm>
          <a:prstGeom prst="rect">
            <a:avLst/>
          </a:prstGeom>
          <a:noFill/>
        </p:spPr>
        <p:txBody>
          <a:bodyPr wrap="square">
            <a:spAutoFit/>
          </a:bodyPr>
          <a:lstStyle/>
          <a:p>
            <a:pPr algn="l"/>
            <a:r>
              <a:rPr sz="1200" b="0">
                <a:solidFill>
                  <a:srgbClr val="FFFFFF"/>
                </a:solidFill>
                <a:latin typeface="Calibri"/>
              </a:rPr>
              <a:t>• Battery-friendly on OLED displays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1645920"/>
            <a:ext cx="11274552" cy="1188720"/>
          </a:xfrm>
          <a:prstGeom prst="rect">
            <a:avLst/>
          </a:prstGeom>
          <a:noFill/>
        </p:spPr>
        <p:txBody>
          <a:bodyPr wrap="square">
            <a:spAutoFit/>
          </a:bodyPr>
          <a:lstStyle/>
          <a:p>
            <a:pPr algn="ctr"/>
            <a:r>
              <a:rPr sz="4000" b="1">
                <a:solidFill>
                  <a:srgbClr val="FFFFFF"/>
                </a:solidFill>
                <a:latin typeface="Calibri"/>
              </a:rPr>
              <a:t>Think Different.</a:t>
            </a:r>
          </a:p>
        </p:txBody>
      </p:sp>
      <p:sp>
        <p:nvSpPr>
          <p:cNvPr id="3" name="TextBox 2"/>
          <p:cNvSpPr txBox="1"/>
          <p:nvPr/>
        </p:nvSpPr>
        <p:spPr>
          <a:xfrm>
            <a:off x="457200" y="2926080"/>
            <a:ext cx="11274552" cy="731520"/>
          </a:xfrm>
          <a:prstGeom prst="rect">
            <a:avLst/>
          </a:prstGeom>
          <a:noFill/>
        </p:spPr>
        <p:txBody>
          <a:bodyPr wrap="square">
            <a:spAutoFit/>
          </a:bodyPr>
          <a:lstStyle/>
          <a:p>
            <a:pPr algn="ctr"/>
            <a:r>
              <a:rPr sz="2000" b="0">
                <a:solidFill>
                  <a:srgbClr val="CCCCCC"/>
                </a:solidFill>
                <a:latin typeface="Calibri"/>
              </a:rPr>
              <a:t>Join millions of people who trust Apple design every day.</a:t>
            </a:r>
          </a:p>
        </p:txBody>
      </p:sp>
      <p:sp>
        <p:nvSpPr>
          <p:cNvPr id="4" name="Rounded Rectangle 3"/>
          <p:cNvSpPr/>
          <p:nvPr/>
        </p:nvSpPr>
        <p:spPr>
          <a:xfrm>
            <a:off x="5088636" y="4823460"/>
            <a:ext cx="2011680" cy="411480"/>
          </a:xfrm>
          <a:prstGeom prst="roundRect">
            <a:avLst>
              <a:gd name="adj" fmla="val 50000"/>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Get Started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